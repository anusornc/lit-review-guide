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เปิดด้วยคำถาม: ตอนนี้ผู้เข้าอบรมติดขัดที่สุดที่ขั้นใด—ตั้งคำถาม เลือกวิธี ค้น คัดกรอง หรือสังเคราะห์
บอกผู้เรียนว่าสไลด์ชุดนี้แบ่งเป็นโมดูล สามารถใช้สอนเต็มวันหรือเลือกเฉพาะโมดูลได้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อธิบายเหตุผลของเส้นทางเรียนรู้: เริ่มจากคำถามและการตัดสินใจที่งานต้องช่วยตอบ ก่อนเลือกวิธีและเครื่องมือ
ในการสอน ให้ใช้เครื่องมือช่วยวางกรอบคำถามก่อนเลือกวิธี และวางเรื่องสถิติหลังการออกแบบกับการสังเคราะห์ เพื่อไม่ให้ผู้เรียนเริ่มต้นจากชื่อสถิติ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ให้ผู้เรียนเลือก 1 ผลลัพธ์ที่สำคัญที่สุดสำหรับตนเอง แล้วกลับมาตรวจตอนท้ายเวิร์กชอป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ถ้าสอนครึ่งวัน: ใช้โมดูล 1, 2, ภาพรวมโมดูล 4 และแผนลงมือทำ
สถิติอยู่ท้ายชุดในฐานะภาคเสริมสำหรับการวิเคราะห์ข้อมูลวิจัย ไม่ใช่ขั้นตอนหลักของการทบทวนวรรณกรรม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เวลารวม 8 นาที
คำชี้แจงผู้สอน:
เขียนหัวข้อวิจัยปัจจุบัน 1 ประโยค แล้ววงขั้นที่ยังไม่มั่นใจที่สุด
ขั้นตอน:
1. เขียนหัวข้อหรือปัญหาที่กำลังศึกษา
2. เลือกจุดติดขัด: คำถาม / วิธี / ค้น / คัดกรอง / สังเคราะห์
3. จับคู่เล่าให้เพื่อนฟังคนละ 60 วินาที
ถอดบทเรียน:
ปัญหาของเราเกิดจากข้อมูลไม่พอ หรือเกิดจากยังไม่ตัดสินใจให้ชัด?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ใช้สไลด์นี้เปิดช่วงใหม่
เวลาที่แนะนำ: 45–55 นาที
เป้าหมายของช่วง: เริ่มจากการตัดสินใจที่งานทบทวนต้องสนับสนุน แล้วจึงเลือกกรอบคำถามและขอบเขต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เน้นว่าการทบทวนเชิงบรรยายที่ดีทำได้ แต่ต้องเรียกชื่อและรายงานวิธีให้ตรงกับสิ่งที่ทำจริง ไม่ใช้คำว่า ‘อย่างเป็นระบบ’ เพียงเพราะค้นหลายฐานข้อมูล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ทำแผนที่องค์ความรู้: มองเห็นขนาด แนวคิด ช่องว่าง และขอบเขตของประเด็นที่ยังกว้าง
ประเมินผลหรือความสัมพันธ์: ตอบคำถามเฉพาะเกี่ยวกับผลกระทบ ความสัมพันธ์ หรือประสิทธิผล
เข้าใจประสบการณ์: สังเคราะห์ความหมาย มุมมอง กลไก หรือประสบการณ์ของผู้คน
อธิบายความซับซ้อน: ค้นหาว่าอะไรได้ผล กับใคร ในบริบทใด และเพราะเหตุใด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เน้นข้อมูลเชิงปริมาณ: การทดลอง แบบสำรวจ การวัดผล หรือผลลัพธ์เชิงตัวเลขที่เปรียบเทียบกันได้
เน้นข้อมูลเชิงคุณภาพ: การสัมภาษณ์ การสังเกต ตัวบท กรณีศึกษา หรือคำอธิบายเชิงตีความ
ผสมผสานหรือหลากหลาย: งานวิจัยหลายประเภทที่ต้องนำมาพิจารณาร่วมกันเพื่อสร้างคำอธิบาย
แนวคิดหรือเอกสาร: ทฤษฎี ข้อโต้แย้ง เอกสาร คำพิพากษา หรือหลักฐานทางประวัติศาสตร์
ยังไม่แน่ใจ: เริ่มค้นอย่างกว้างเพื่อดูว่ามีหลักฐานประเภทใดอยู่บ้าง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งานเร่งรัดต้องบอกขั้นตอนที่ลดลงและผลกระทบต่อความมั่นใจ
งานวิทยานิพนธ์ควรโปร่งใสและมีเหตุผล แม้ไม่จำเป็นต้องเรียกงานว่าการทบทวนวรรณกรรมอย่างเป็นระบบ
งานตีพิมพ์ควรมีโครงร่างการทบทวน ทีมผู้ทบทวน และมาตรฐานการรายงานที่ชัด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PICO — คำถามที่ต้องการเปรียบเทียบผลหรือประสิทธิภาพอย่างเจาะจง
องค์ประกอบ: กลุ่มเป้าหมายหรือปัญหา, วิธี โปรแกรม หรือนวัตกรรมที่สนใจ, สิ่งที่นำมาเปรียบเทียบ, ผลที่ต้องการดู
PEO — คำถามว่าคนกลุ่มหนึ่งเผชิญอะไรและรับรู้ผลอย่างไร
องค์ประกอบ: กลุ่มเป้าหมาย, ปัจจัยหรือประสบการณ์ที่สนใจ, ประสบการณ์หรือผลที่รับรู้
SPIDER — คำถามที่ต้องการเจาะลึกหลักฐานเชิงคุณภาพหรือแบบผสม
องค์ประกอบ: กลุ่มตัวอย่าง, ประเด็นหรือประสบการณ์ที่ต้องการศึกษา, รูปแบบการศึกษา, สิ่งที่ผู้เข้าร่วมสะท้อน, ประเภทงานวิจัย
SPICE — คำถามที่ใช้เปรียบเทียบบริการ นโยบาย หรือแนวทางปฏิบัติ
องค์ประกอบ: บริบทหรือสถานที่, มุมมองของใคร, บริการ นโยบาย หรือทางเลือกที่สนใจ, ทางเลือกที่นำมาเปรียบเทียบ, เกณฑ์ที่ใช้พิจารณา
PCC — คำถามกว้างสำหรับสำรวจขอบเขตงานวิจัยที่มีอยู่
องค์ประกอบ: กลุ่มเป้าหมายหรือผู้เกี่ยวข้อง, แนวคิดที่ต้องการสำรวจ, บริบท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เวลารวม 15 นาที
คำชี้แจงผู้สอน:
เลือก PICO, PEO, SPIDER, SPICE หรือ PCC แล้วเขียนคำถามฉบับร่างจากหัวข้อของตนเอง
ขั้นตอน:
1. ระบุการตัดสินใจที่คำถามต้องช่วย
2. เลือกกรอบที่ตรงกับเจตนา
3. กรอกองค์ประกอบเท่าที่รู้และทำเครื่องหมายจุดที่ยังไม่ชัด
4. อ่านคำถามออกเสียงให้คู่ฟัง
ถอดบทเรียน:
คำใดทำให้ขอบเขตกว้างเกินไป? คำใดทำให้พลาดบริบทสำคัญ?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ชวนผู้เรียนสังเกตว่าคำว่า AI กว้างเกินไป ต้องระบุบทบาทของระบบและผลลัพธ์ที่สนใจ
จากคำถามนี้ยังสามารถเลือกทำการทบทวนวรรณกรรมอย่างเป็นระบบ การทบทวนวรรณกรรมแบบกำหนดขอบเขต หรือการทบทวนวรรณกรรมแบบผสมผสานวิธีได้ ขึ้นกับสภาพหลักฐานและเป้าหมาย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ใช้สไลด์นี้เปิดช่วงใหม่
เวลาที่แนะนำ: 55–65 นาที
เป้าหมายของช่วง: รู้จักภูมิทัศน์ 14 วิธี แล้วเลือกจากเจตนา ชนิดหลักฐาน ความพร้อมของทีม และผลผลิตที่ต้องการ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การทบทวนวรรณกรรมอย่างเป็นระบบ
สรุป: ค้น ประเมิน และสังเคราะห์หลักฐานตามขั้นตอนที่ทำซ้ำได้ เพื่อตอบคำถามที่มีขอบเขตชัดเจน
เหมาะเมื่อ: เหมาะกับคำถามที่กำหนดขอบเขตได้ชัด มีงานวิจัยปฐมภูมิที่เปรียบเทียบกันได้เพียงพอ และสามารถวางโครงร่างล่วงหน้าได้
ไม่ควรเลือกเมื่อ: สาขายังใหม่เกินไป แนวคิดยังไม่นิ่ง หรือคำถามยังอยู่ในระยะสำรวจ
ผลผลิต: ข้อสรุปจากหลักฐาน พร้อมระดับความเชื่อมั่นและข้อจำกัดที่ตรวจสอบได้
ระยะเวลา: โดยมาก 6–18 เดือน
การทบทวนวรรณกรรมแบบกำหนดขอบเขต
สรุป: ทำแผนที่แนวคิด ประเภทหลักฐาน กิจกรรมวิจัย และช่องว่างในสาขาที่มีขอบเขตกว้าง
เหมาะเมื่อ: เหมาะกับการทำให้นิยามชัดเจน สำรวจขอบเขตของเรื่อง หรือพิจารณาว่าสามารถทำการทบทวนวรรณกรรมอย่างเป็นระบบต่อได้หรือไม่
ไม่ควรเลือกเมื่อ: ต้องการข้อสรุปชี้ขาดด้านประสิทธิผล หรือค่าประมาณผลรวม
ผลผลิต: แผนที่หลักฐาน กรอบแนวคิด การจัดหมวดหมู่ และประเด็นวิจัยที่ยังขาด
ระยะเวลา: โดยมาก 4–12 เดือน
การวิเคราะห์อภิมาน
สรุป: รวมค่าประมาณผลจากหลายการศึกษาที่เข้ากันได้ด้วยวิธีทางสถิติ
เหมาะเมื่อ: เหมาะเมื่อประชากร การวัด ตัวเปรียบเทียบ และผลลัพธ์ของงานวิจัยใกล้เคียงกันเพียงพอ
ไม่ควรเลือกเมื่อ: ความแตกต่างทางคลินิกหรือระเบียบวิธีทำให้ค่าผลรวมเพียงค่าเดียวชวนให้เข้าใจผิด
ผลผลิต: ค่าประมาณผลรวม ช่วงความไม่แน่นอน การวิเคราะห์ความไม่เป็นเนื้อเดียวกัน และการวิเคราะห์ความไว
ระยะเวลา: มักเป็นส่วนหนึ่งของการทบทวนวรรณกรรมอย่างเป็นระบบ
การสังเคราะห์หลักฐานเชิงคุณภาพ
สรุป: นำข้อค้นพบเชิงคุณภาพมาสังเคราะห์ร่วมกัน เพื่อสร้างประเด็น คำอธิบาย หรือการตีความใหม่
เหมาะเมื่อ: เหมาะกับการทำความเข้าใจประสบการณ์ การยอมรับ ความหมาย อุปสรรค และการตีความปรากฏการณ์
ไม่ควรเลือกเมื่อ: เป้าหมายมีเพียงการประมาณความชุก ความถี่ หรือผลเชิงสาเหตุ
ผลผลิต: ประเด็นเชิงวิเคราะห์ แบบจำลองแนวคิด คำอธิบายเชิงทฤษฎี หรือการตีความในระดับที่ลึกขึ้น
ระยะเวลา: โดยมาก 6–15 เดือน
การทบทวนเชิงสัจนิยม
สรุป: อธิบายว่าบริบทกระตุ้นกลไกอย่างไร จึงทำให้เกิดผลลัพธ์ที่แตกต่างกัน
เหมาะเมื่อ: เหมาะกับโครงการซับซ้อน นโยบาย การนำไปใช้ และคำถามว่าอะไรได้ผล กับใคร และเพราะเหตุใด
ไม่ควรเลือกเมื่อ: ต้องการเพียงค่าเฉลี่ยผลอย่างง่าย หรือไม่สามารถพัฒนาทฤษฎีโครงการเบื้องต้นได้
ผลผลิต: ชุดความสัมพันธ์ระหว่างบริบท–กลไก–ผลลัพธ์ และทฤษฎีโครงการที่อธิบายการทำงานในบริบทต่าง ๆ
ระยะเวลา: โดยมาก 8–18 เดือน
การทบทวนวรรณกรรมเชิงบูรณาการ
สรุป: รวมวรรณกรรมเชิงประจักษ์และเชิงทฤษฎี เพื่อปรับกรอบความคิดหรือสร้างกรอบใหม่
เหมาะเมื่อ: เหมาะกับสาขาที่เติบโตแล้วแต่กระจัดกระจาย และหลักฐานหลากหลายช่วยสร้างแบบจำลองแนวคิดใหม่ได้
ไม่ควรเลือกเมื่อ: ตรรกะการเลือกแหล่งข้อมูลคลุมเครือ หรือการสังเคราะห์กลายเป็นเพียงความเห็นของผู้เขียน
ผลผลิต: กรอบแนวคิด แบบจำลอง การจัดหมวดหมู่ หรือการนิยามปัญหาใหม่
ระยะเวลา: โดยมาก 4–12 เดือน
การทบทวนวรรณกรรมแบบผสมผสานวิธี
สรุป: รวมหลักฐานเชิงปริมาณและเชิงคุณภาพไว้ในแผนการสังเคราะห์เดียวกัน
เหมาะเมื่อ: เหมาะกับคำถามที่ต้องการทั้งหลักฐานด้านผลลัพธ์ และคำอธิบายประสบการณ์หรือการนำไปใช้
ไม่ควรเลือกเมื่อ: ไม่มีคำถามชัดเจนว่าจะผสานหลักฐานอย่างไร และผลสังเคราะห์เชิงปริมาณกับเชิงคุณภาพเพียงถูกนำมาวางคู่กัน
ผลผลิต: แบบจำลองที่ผสานผลลัพธ์เข้ากับการนำไปใช้ บริบท หรือประสบการณ์ของผู้มีส่วนได้ส่วนเสีย
ระยะเวลา: โดยมาก 9–20 เดือน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การวิเคราะห์บรรณมิติ
สรุป: ใช้ข้อมูลเมตาของสิ่งพิมพ์เพื่อวิเคราะห์การเติบโต อิทธิพล ความร่วมมือ และกลุ่มแนวคิด
เหมาะเมื่อ: เหมาะกับวรรณกรรมขนาดใหญ่ที่โครงสร้างและวิวัฒนาการของชุมชนวิจัยมีความสำคัญ
ไม่ควรเลือกเมื่อ: ใช้จำนวนการอ้างอิงแทนคุณภาพการศึกษา หรือแทนการตีความสาระสำคัญ
ผลผลิต: แนวโน้มผลงาน เครือข่ายความร่วมมือ แผนที่การอ้างอิงร่วมหรือคำสำคัญ และพัฒนาการของหัวข้อ
ระยะเวลา: โดยมาก 3–9 เดือน
การทบทวนเชิงวิพากษ์หรือเชิงบรรยาย
สรุป: พัฒนาข้อโต้แย้งโดยวางองค์ความรู้หรือข้อถกเถียงไว้ในบริบททางประวัติศาสตร์
เหมาะเมื่อ: เหมาะกับการติดตามสายธารความคิด เปิดเผยสมมติฐาน หรือเสนอการตีความใหม่
ไม่ควรเลือกเมื่อ: เลือกอ้างอิงเฉพาะบางส่วนแล้วสื่อว่าเป็นการครอบคลุมทั้งหมดหรือเป็นการประมาณผลอย่างเป็นกลาง
ผลผลิต: ข้อโต้แย้งเชิงวิพากษ์ ประวัติศาสตร์นิพนธ์ ข้อเสนอเชิงทฤษฎี หรือประเด็นสำหรับการศึกษาต่อ
ระยะเวลา: แตกต่างตามขนาดและความลึกของคลังข้อมูล
การทบทวนงานทบทวนอย่างเป็นระบบ (umbrella review)
สรุป: สังเคราะห์ผลจากงานทบทวนวรรณกรรมอย่างเป็นระบบที่มีอยู่ โดยไม่ย้อนกลับไปวิเคราะห์งานวิจัยปฐมภูมิทุกชิ้น
เหมาะเมื่อ: เหมาะเมื่อหัวข้อมีงานทบทวนคุณภาพดีหลายชุด และต้องการเปรียบเทียบผลกับระดับความเชื่อมั่นในภาพรวม
ไม่ควรเลือกเมื่อ: ไม่เหมาะเมื่อมีงานวิจัยปฐมภูมิใหม่กว่างานทบทวนเดิม งานทบทวนซ้ำซ้อนกันมาก หรือคุณภาพโดยรวมต่ำ
ผลผลิต: ผลสังเคราะห์ในระดับงานทบทวน พร้อมข้อมูลความซ้ำซ้อน คุณภาพ และประเด็นที่ยังไม่แน่นอน
ระยะเวลา: โดยมาก 6–12 เดือน
การทบทวนแบบเร่งรัด
สรุป: ลดขอบเขตหรือขั้นตอนบางส่วนตามแผนที่กำหนดไว้ เมื่อต้องใช้หลักฐานประกอบการตัดสินใจอย่างเร่งด่วน
เหมาะเมื่อ: เหมาะกับการตัดสินใจด้านนโยบาย บริการ หรือโครงการที่มีผู้ใช้ผลชัดเจนและมีกำหนดเวลาแน่นอน
ไม่ควรเลือกเมื่อ: ไม่เหมาะเมื่อจำเป็นต้องค้นให้ครอบคลุมที่สุด หรือการลดขั้นตอนอาจทำให้ข้อสรุปในเรื่องสำคัญคลาดเคลื่อน
ผลผลิต: รายงานหลักฐานที่เสร็จตามกรอบเวลา พร้อมระบุขั้นตอนที่ลดลง ความไม่แน่นอน และแผนปรับปรุงในอนาคต
ระยะเวลา: โดยมาก 2–12 สัปดาห์
การค้นและทบทวนวรรณกรรมอย่างเป็นระบบ
สรุป: ค้นอย่างโปร่งใสและให้ผู้อื่นค้นตามได้ แล้วสังเคราะห์ในระดับที่เหมาะกับวิทยานิพนธ์หรือข้อเสนอโครงการ
เหมาะเมื่อ: เหมาะกับงานบัณฑิตศึกษาที่ต้องการบททบทวนซึ่งมีหลักฐานรองรับชัดเจน แต่ไม่ได้ทำการทบทวนวรรณกรรมอย่างเป็นระบบเต็มรูปแบบ
ไม่ควรเลือกเมื่อ: ไม่ควรใช้ชื่อเรื่องหรือข้อสรุปที่สื่อว่าค้นครอบคลุมทั้งหมด หากไม่มีทีม ประเมินคุณภาพไม่ครบ หรือไม่ได้วางโครงร่างล่วงหน้า
ผลผลิต: บันทึกการค้นที่ตรวจสอบย้อนหลังได้ ผลการคัดกรอง ตารางหลักฐาน และบทสังเคราะห์เชิงบรรยายตามขอบเขตที่กำหนด
ระยะเวลา: โดยมาก 2–6 เดือน
การสังเคราะห์แบบเมตาชาติพันธุ์วรรณนา
สรุป: นำแนวคิดจากงานวิจัยเชิงคุณภาพหลายชิ้นมาเทียบเคียงและตีความร่วมกัน เพื่อพัฒนาคำอธิบายหรือทฤษฎีใหม่
เหมาะเมื่อ: เหมาะกับกลุ่มงานวิจัยเชิงคุณภาพที่มีขอบเขตชัดและมีแนวคิดมากพอให้นำมาเปรียบเทียบกันได้
ไม่ควรเลือกเมื่อ: ไม่เหมาะเมื่อข้อค้นพบบางเกินไป ขาดข้อมูลบริบท หรือทีมต้องการเพียงสรุปหัวข้อเชิงพรรณนา
ผลผลิต: ความสัมพันธ์ของแนวคิดทั้งส่วนที่สอดคล้องและขัดแย้งกัน พร้อมข้ออธิบายหรือการตีความใหม่
ระยะเวลา: โดยมาก 6–15 เดือน
การสังเคราะห์เชิงประเด็น
สรุป: เริ่มจากเข้ารหัสข้อค้นพบเชิงคุณภาพทีละบรรทัด แล้วพัฒนาเป็นประเด็นเชิงพรรณนาและประเด็นเชิงวิเคราะห์
เหมาะเมื่อ: เหมาะเมื่อต้องการแสดงว่าข้อค้นพบในงานต้นฉบับพัฒนาเป็นประเด็นที่ใช้ตอบคำถามได้อย่างไร
ไม่ควรเลือกเมื่อ: ไม่เหมาะเมื่อเป้าหมายคือการตีความทฤษฎีเชิงลึก หรือข้อค้นพบมีรายละเอียดน้อยเกินกว่าจะเข้ารหัส
ผลผลิต: ประเด็นเชิงพรรณนา ประเด็นเชิงวิเคราะห์ และกรอบรหัสที่ตรวจสอบย้อนกลับถึงงานต้นฉบับได้
ระยะเวลา: โดยมาก 4–10 เดือน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ใช้เว็บไซต์ LitWise ให้ผู้เรียนทดลองเส้นทางจริงหลังสไลด์นี้
ย้ำว่าเป้าหมายเป็นตัวกำกับหลัก ส่วนสาขา ลักษณะหลักฐาน และความพร้อมของโครงการช่วยปรับความเหมาะสม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การทบทวนแบบเร่งรัดเป็นข้อจำกัดด้านกระบวนการและเวลา ไม่ใช่เจตนาของคำถามโดยตัวมันเอง
การทบทวนเชิงวิพากษ์เหมาะเมื่อเป้าหมายคือโต้แย้งและประเมินกรอบความคิด ไม่ใช่สรุปประสิทธิผล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ให้ผู้เรียนใช้ตารางเปรียบเทียบในเว็บไซต์ เลือกไม่เกิน 3 วิธี แล้วบันทึกเหตุผลที่ตัดแต่ละวิธีออก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เวลารวม 18 นาที
คำชี้แจงผู้สอน:
เลือกวิธีเริ่มต้น 1 วิธีและทางเลือก 1 วิธีสำหรับคำถามของตนเอง พร้อมเขียนเหตุผลสั้น ๆ
ขั้นตอน:
1. ระบุเจตนาและชนิดหลักฐาน
2. เปรียบเทียบ 2–3 วิธี
3. เขียนเหตุผลเลือกและเหตุผลไม่เลือก
4. ให้คู่ถามคำถามท้าทาย 1 ข้อ
ถอดบทเรียน:
ถ้าสภาพหลักฐานจริงไม่ตรงกับที่คาด คุณจะปรับคำถามหรือปรับวิธี?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ใช้สไลด์นี้เปิดช่วงใหม่
เวลาที่แนะนำ: 25–35 นาที
เป้าหมายของช่วง: ฐานข้อมูล มาตรฐาน และข้อควรระวังต่างกัน แต่หลักความโปร่งใสและการตรวจย้อนกลับยังเหมือนกัน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สุขภาพและการแพทย์
คำถามที่พบบ่อย: ประสิทธิผล ความชุก ความแม่นยำในการวินิจฉัย ประสบการณ์ และการนำไปใช้
แหล่งค้น: MEDLINE, Embase, CINAHL, Cochrane Library และทะเบียนการทดลอง
วิธีที่มักใช้: การทบทวนวรรณกรรมอย่างเป็นระบบ, การทบทวนวรรณกรรมแบบกำหนดขอบเขต, การวิเคราะห์อภิมาน, การทบทวนเชิงสัจนิยม
ข้อควรระวัง: ลงทะเบียนโครงร่างล่วงหน้าสำหรับคำถามเฉพาะ และใช้เครื่องมือประเมินความเสี่ยงอคติที่ตรงกับแบบแผนการศึกษา
สังคมศาสตร์และพฤติกรรมศาสตร์
คำถามที่พบบ่อย: ประสบการณ์ ความสัมพันธ์ กลไก ผลของนโยบาย และรูปแบบทางสังคม
แหล่งค้น: Scopus, Web of Science, PsycINFO, Sociological Abstracts และวรรณกรรมสีเทา
วิธีที่มักใช้: การสังเคราะห์หลักฐานเชิงคุณภาพ, การทบทวนวรรณกรรมแบบกำหนดขอบเขต, การทบทวนเชิงสัจนิยม, การทบทวนวรรณกรรมอย่างเป็นระบบ
ข้อควรระวัง: รักษาบริบทของหลักฐาน และอย่านำตัวแปรหรือแนวคิดที่ต่างกันมาเปรียบเทียบโดยตรงหากไม่มีเหตุผลรองรับ
การศึกษา
คำถามที่พบบ่อย: ผลของนวัตกรรม ประสบการณ์ในชั้นเรียน การนำไปใช้ และการออกแบบการเรียนรู้
แหล่งค้น: ERIC, Education Source, Scopus, ProQuest Dissertations และคลังนโยบาย
วิธีที่มักใช้: การทบทวนวรรณกรรมอย่างเป็นระบบ, การทบทวนวรรณกรรมแบบผสมผสานวิธี, การทบทวนวรรณกรรมแบบกำหนดขอบเขต, การสังเคราะห์หลักฐานเชิงคุณภาพ
ข้อควรระวัง: คำนึงถึงช่วงวัย บริบท ความสม่ำเสมอในการดำเนินกิจกรรมตามแผน และนโยบายในพื้นที่
ธุรกิจและการจัดการ
คำถามที่พบบ่อย: การพัฒนาทฤษฎี แนวโน้ม ความสัมพันธ์ และกลไกขององค์การ
แหล่งค้น: Business Source, ABI/INFORM, Scopus, Web of Science และ SSRN
วิธีที่มักใช้: การทบทวนวรรณกรรมอย่างเป็นระบบ, การทบทวนวรรณกรรมเชิงบูรณาการ, การวิเคราะห์บรรณมิติ, การทบทวนเชิงสัจนิยม
ข้อควรระวัง: แยกหลักฐานวิชาการออกจากข้อเสนอของบริษัทที่ปรึกษา และระวังการเลือกเฉพาะหัวข้อที่กำลังเป็นกระแส
วิศวกรรมและคอมพิวเตอร์
คำถามที่พบบ่อย: การเปรียบเทียบเทคนิค แนวโน้มวิจัย หลักฐานการใช้งาน และความรู้ของผู้ปฏิบัติ
แหล่งค้น: IEEE Xplore, ACM Digital Library, Scopus, arXiv มาตรฐาน และรายงานเทคนิค
วิธีที่มักใช้: การทำแผนที่งานวิจัยอย่างเป็นระบบ, การทบทวนวรรณกรรมอย่างเป็นระบบ, การทบทวนวรรณกรรมแบบพหุแหล่ง, การวิเคราะห์บรรณมิติ
ข้อควรระวัง: ตรวจสอบรุ่นของเทคโนโลยี ความสามารถในการเปรียบเทียบเกณฑ์ทดสอบ คุณภาพของวารสารหรือแหล่งเผยแพร่ และอายุของหลักฐาน
วิทยาศาสตร์ธรรมชาติและสิ่งแวดล้อม
คำถามที่พบบ่อย: ผลกระทบ รูปแบบเชิงพื้นที่ ปัจจัยเชิงสาเหตุ และการจัดการสิ่งแวดล้อม
แหล่งค้น: Web of Science, Scopus, CAB Abstracts, GeoRef และคลังข้อมูลของหน่วยงาน
วิธีที่มักใช้: การทำแผนที่หลักฐานอย่างเป็นระบบ, การทบทวนวรรณกรรมอย่างเป็นระบบ, การวิเคราะห์อภิมาน, แผนที่หลักฐานและช่องว่าง
ข้อควรระวัง: วางแผนรับความแตกต่างด้านชนิดพันธุ์ ระดับพื้นที่ ภูมิศาสตร์ การวัด และภูมิอากาศ
ศิลปศาสตร์และมนุษยศาสตร์
คำถามที่พบบ่อย: การตีความ ลำดับพัฒนาการ ประวัติศาสตร์นิพนธ์ การถกเถียงเชิงวิพากษ์ และรูปแบบในเอกสารจดหมายเหตุ
แหล่งค้น: JSTOR, MLA Bibliography, Project MUSE หอจดหมายเหตุ บัญชีรายการ และแหล่งปฐมภูมิ
วิธีที่มักใช้: การทบทวนเชิงวิพากษ์, การทบทวนเชิงบรรยาย, การทบทวนประวัติศาสตร์นิพนธ์, การสังเคราะห์เอกสารจดหมายเหตุ
ข้อควรระวัง: ความโปร่งใสยังสำคัญ แต่ความครบถ้วนและการประเมินคุณค่าต้องตีความตามธรรมชาติของสาขา
กฎหมายและนโยบายสาธารณะ
คำถามที่พบบ่อย: การตีความกฎหมาย ผลของนโยบาย การนำไปใช้ และการเปรียบเทียบสถาบัน
แหล่งค้น: HeinOnline, Westlaw, Lexis พอร์ทัลภาครัฐ กฎหมาย และคลังคดี
วิธีที่มักใช้: การทบทวนหลักกฎหมาย, การทบทวนวรรณกรรมอย่างเป็นระบบ, การทบทวนเชิงสัจนิยม, การทบทวนหลักฐานแบบเร่งรัด
ข้อควรระวัง: ระบุเขตอำนาจ ลำดับศักดิ์ของแหล่งกฎหมาย ขอบเขตเวลา และบริบทนโยบายให้ชัด
สหวิทยาการและสาขาเกิดใหม่
คำถามที่พบบ่อย: การเชื่อมแนวคิด ช่องว่างหลักฐาน กลไกระบบ นิยามที่ยังถกเถียง และแนวปฏิบัติใหม่
แหล่งค้น: Scopus, Web of Science, OpenAlex, Dimensions, Lens, Google Scholar และคลังเฉพาะศาสตร์
วิธีที่มักใช้: การทบทวนวรรณกรรมแบบกำหนดขอบเขต, การทบทวนวรรณกรรมเชิงบูรณาการ, การทบทวนเชิงสัจนิยม, การค้นและทบทวนวรรณกรรมอย่างเป็นระบบ
ข้อควรระวัง: กำหนดขอบเขตให้ชัด และค้นด้วยคำศัพท์กับฐานข้อมูลจากมากกว่าหนึ่งศาสตร์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สุขภาพและการแพทย์
คำถามที่พบบ่อย: ประสิทธิผล ความชุก ความแม่นยำในการวินิจฉัย ประสบการณ์ และการนำไปใช้
แหล่งค้น: MEDLINE, Embase, CINAHL, Cochrane Library และทะเบียนการทดลอง
วิธีที่มักใช้: การทบทวนวรรณกรรมอย่างเป็นระบบ, การทบทวนวรรณกรรมแบบกำหนดขอบเขต, การวิเคราะห์อภิมาน, การทบทวนเชิงสัจนิยม
ข้อควรระวัง: ลงทะเบียนโครงร่างล่วงหน้าสำหรับคำถามเฉพาะ และใช้เครื่องมือประเมินความเสี่ยงอคติที่ตรงกับแบบแผนการศึกษา
สังคมศาสตร์และพฤติกรรมศาสตร์
คำถามที่พบบ่อย: ประสบการณ์ ความสัมพันธ์ กลไก ผลของนโยบาย และรูปแบบทางสังคม
แหล่งค้น: Scopus, Web of Science, PsycINFO, Sociological Abstracts และวรรณกรรมสีเทา
วิธีที่มักใช้: การสังเคราะห์หลักฐานเชิงคุณภาพ, การทบทวนวรรณกรรมแบบกำหนดขอบเขต, การทบทวนเชิงสัจนิยม, การทบทวนวรรณกรรมอย่างเป็นระบบ
ข้อควรระวัง: รักษาบริบทของหลักฐาน และอย่านำตัวแปรหรือแนวคิดที่ต่างกันมาเปรียบเทียบโดยตรงหากไม่มีเหตุผลรองรับ
การศึกษา
คำถามที่พบบ่อย: ผลของนวัตกรรม ประสบการณ์ในชั้นเรียน การนำไปใช้ และการออกแบบการเรียนรู้
แหล่งค้น: ERIC, Education Source, Scopus, ProQuest Dissertations และคลังนโยบาย
วิธีที่มักใช้: การทบทวนวรรณกรรมอย่างเป็นระบบ, การทบทวนวรรณกรรมแบบผสมผสานวิธี, การทบทวนวรรณกรรมแบบกำหนดขอบเขต, การสังเคราะห์หลักฐานเชิงคุณภาพ
ข้อควรระวัง: คำนึงถึงช่วงวัย บริบท ความสม่ำเสมอในการดำเนินกิจกรรมตามแผน และนโยบายในพื้นที่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ธุรกิจและการจัดการ
คำถามที่พบบ่อย: การพัฒนาทฤษฎี แนวโน้ม ความสัมพันธ์ และกลไกขององค์การ
แหล่งค้น: Business Source, ABI/INFORM, Scopus, Web of Science และ SSRN
วิธีที่มักใช้: การทบทวนวรรณกรรมอย่างเป็นระบบ, การทบทวนวรรณกรรมเชิงบูรณาการ, การวิเคราะห์บรรณมิติ, การทบทวนเชิงสัจนิยม
ข้อควรระวัง: แยกหลักฐานวิชาการออกจากข้อเสนอของบริษัทที่ปรึกษา และระวังการเลือกเฉพาะหัวข้อที่กำลังเป็นกระแส
วิศวกรรมและคอมพิวเตอร์
คำถามที่พบบ่อย: การเปรียบเทียบเทคนิค แนวโน้มวิจัย หลักฐานการใช้งาน และความรู้ของผู้ปฏิบัติ
แหล่งค้น: IEEE Xplore, ACM Digital Library, Scopus, arXiv มาตรฐาน และรายงานเทคนิค
วิธีที่มักใช้: การทำแผนที่งานวิจัยอย่างเป็นระบบ, การทบทวนวรรณกรรมอย่างเป็นระบบ, การทบทวนวรรณกรรมแบบพหุแหล่ง, การวิเคราะห์บรรณมิติ
ข้อควรระวัง: ตรวจสอบรุ่นของเทคโนโลยี ความสามารถในการเปรียบเทียบเกณฑ์ทดสอบ คุณภาพของวารสารหรือแหล่งเผยแพร่ และอายุของหลักฐาน
วิทยาศาสตร์ธรรมชาติและสิ่งแวดล้อม
คำถามที่พบบ่อย: ผลกระทบ รูปแบบเชิงพื้นที่ ปัจจัยเชิงสาเหตุ และการจัดการสิ่งแวดล้อม
แหล่งค้น: Web of Science, Scopus, CAB Abstracts, GeoRef และคลังข้อมูลของหน่วยงาน
วิธีที่มักใช้: การทำแผนที่หลักฐานอย่างเป็นระบบ, การทบทวนวรรณกรรมอย่างเป็นระบบ, การวิเคราะห์อภิมาน, แผนที่หลักฐานและช่องว่าง
ข้อควรระวัง: วางแผนรับความแตกต่างด้านชนิดพันธุ์ ระดับพื้นที่ ภูมิศาสตร์ การวัด และภูมิอากาศ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ศิลปศาสตร์และมนุษยศาสตร์
คำถามที่พบบ่อย: การตีความ ลำดับพัฒนาการ ประวัติศาสตร์นิพนธ์ การถกเถียงเชิงวิพากษ์ และรูปแบบในเอกสารจดหมายเหตุ
แหล่งค้น: JSTOR, MLA Bibliography, Project MUSE หอจดหมายเหตุ บัญชีรายการ และแหล่งปฐมภูมิ
วิธีที่มักใช้: การทบทวนเชิงวิพากษ์, การทบทวนเชิงบรรยาย, การทบทวนประวัติศาสตร์นิพนธ์, การสังเคราะห์เอกสารจดหมายเหตุ
ข้อควรระวัง: ความโปร่งใสยังสำคัญ แต่ความครบถ้วนและการประเมินคุณค่าต้องตีความตามธรรมชาติของสาขา
กฎหมายและนโยบายสาธารณะ
คำถามที่พบบ่อย: การตีความกฎหมาย ผลของนโยบาย การนำไปใช้ และการเปรียบเทียบสถาบัน
แหล่งค้น: HeinOnline, Westlaw, Lexis พอร์ทัลภาครัฐ กฎหมาย และคลังคดี
วิธีที่มักใช้: การทบทวนหลักกฎหมาย, การทบทวนวรรณกรรมอย่างเป็นระบบ, การทบทวนเชิงสัจนิยม, การทบทวนหลักฐานแบบเร่งรัด
ข้อควรระวัง: ระบุเขตอำนาจ ลำดับศักดิ์ของแหล่งกฎหมาย ขอบเขตเวลา และบริบทนโยบายให้ชัด
สหวิทยาการและสาขาเกิดใหม่
คำถามที่พบบ่อย: การเชื่อมแนวคิด ช่องว่างหลักฐาน กลไกระบบ นิยามที่ยังถกเถียง และแนวปฏิบัติใหม่
แหล่งค้น: Scopus, Web of Science, OpenAlex, Dimensions, Lens, Google Scholar และคลังเฉพาะศาสตร์
วิธีที่มักใช้: การทบทวนวรรณกรรมแบบกำหนดขอบเขต, การทบทวนวรรณกรรมเชิงบูรณาการ, การทบทวนเชิงสัจนิยม, การค้นและทบทวนวรรณกรรมอย่างเป็นระบบ
ข้อควรระวัง: กำหนดขอบเขตให้ชัด และค้นด้วยคำศัพท์กับฐานข้อมูลจากมากกว่าหนึ่งศาสตร์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เวลารวม 12 นาที
คำชี้แจงผู้สอน:
ระบุฐานข้อมูลหลัก 2 แห่ง ฐานเฉพาะสาขา 1 แห่ง และแหล่งวรรณกรรมสีเทา 1 แห่ง
ขั้นตอน:
1. เริ่มจากกลุ่มสาขาใน LitWise
2. เพิ่มแหล่งที่อาจารย์หรือบรรณารักษ์แนะนำ
3. ระบุสิ่งที่แต่ละแหล่งครอบคลุมต่างกัน
4. เลือกผู้เชี่ยวชาญที่จะช่วยตรวจกลยุทธ์การค้น
ถอดบทเรียน:
ถ้าใช้ฐานข้อมูลเดียว งานประเภทใดหรือภูมิภาคใดมีโอกาสหายไป?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ใช้สไลด์นี้เปิดช่วงใหม่
เวลาที่แนะนำ: 90–110 นาที
เป้าหมายของช่วง: ทำให้ทุกการตัดสินใจมีหลักฐาน มีบันทึก และย้อนกลับไปยังแหล่งเดิมได้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กำหนดขอบเขต
เป้าหมาย: เปลี่ยนหัวข้อให้เป็นคำถาม กำหนดสิ่งที่งานต้องการตอบ และวางขอบเขตที่ทบทวนได้จริง
ผลผลิต: กรอบคำถาม, เกณฑ์คัดเลือก, เหตุผลที่เลือกวิธีทบทวน
จุดตรวจสอบ: หลักฐานที่วางแผนจะค้นเพียงพอต่อข้อสรุปที่ต้องการนำเสนอหรือไม่
ค้น
เป้าหมาย: แยกคำถามออกเป็นแนวคิด คำพ้อง และแหล่งข้อมูล พร้อมบันทึกวิธีค้นให้ผู้อื่นทำตามได้
ผลผลิต: ชุดแนวคิด, คำค้นที่ทดลองแล้ว, บันทึกการค้น
จุดตรวจสอบ: คำค้นช่วยให้พบบทความสำคัญที่รู้จักอยู่แล้วหรือไม่ และผู้อื่นสามารถใช้คำค้นนี้ค้นตามได้หรือไม่
คัดกรอง
เป้าหมาย: ใช้เกณฑ์คัดเลือกอย่างสม่ำเสมอ และบันทึกเหตุผลทุกครั้งที่ตัดงานออก
ผลผลิต: รายการอ้างอิงหลังลบรายการซ้ำ, ผลการคัดกรอง, จำนวนงานในผังการคัดเลือก
จุดตรวจสอบ: หากมีผู้ทบทวนสองคน ทั้งคู่จะตีความเกณฑ์ตรงกันหรือไม่
ประเมิน
เป้าหมาย: พิจารณาว่าหลักฐานแต่ละชิ้นรองรับข้อสรุปประเภทใด และรองรับได้มากน้อยเพียงใด
ผลผลิต: แบบบันทึกการประเมิน, ผลประเมินความเสี่ยงอคติ, ข้อจำกัดของหลักฐาน
จุดตรวจสอบ: เครื่องมือประเมินตรงกับประเภทงานวิจัยและเป้าหมายของงานทบทวนหรือไม่
สกัดข้อมูล
เป้าหมาย: เก็บข้อมูลที่เทียบกันได้ โดยไม่ตัดบริบทที่จำเป็นต่อการสังเคราะห์
ผลผลิต: แบบฟอร์มสกัดข้อมูล, ตารางหลักฐาน, บันทึกการตรวจสอบ
จุดตรวจสอบ: ข้อสังเคราะห์ทุกข้อย้อนกลับไปยังตำแหน่งในแหล่งข้อมูลได้หรือไม่
เขียน
เป้าหมาย: เรียบเรียงข้อค้นพบให้เชื่อมโยงกับความไม่แน่นอน ข้อจำกัด และประโยชน์ทางวิชาการของงาน
ผลผลิต: โครงสร้างการสังเคราะห์, ตารางหรือแผนที่, รายการตรวจสอบการรายงาน
จุดตรวจสอบ: ข้อสรุปยังอยู่ภายในขอบเขตของหลักฐานและโครงร่างที่กำหนดไว้หรือไม่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ผลผลิตที่ควรได้: กรอบคำถาม, เกณฑ์คัดเลือก, เหตุผลที่เลือกวิธีทบทวน
อย่ากำหนดเกณฑ์คัดเลือกจากความสะดวกในการค้นเพียงอย่างเดียว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ผลผลิต: ชุดแนวคิด, คำค้นที่ทดลองแล้ว, บันทึกการค้น
จุดตรวจสอบ: คำค้นช่วยให้พบบทความสำคัญที่รู้จักอยู่แล้วหรือไม่ และผู้อื่นสามารถใช้คำค้นนี้ค้นตามได้หรือไม่
ใช้ PRISMA-S เป็นกรอบรายงานการค้น แต่ต้องปรับรูปแบบคำสั่งค้นให้ตรงกับแต่ละฐานข้อมูล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ชุดแนวคิดด้านผลลัพธ์อาจลดความครอบคลุมของการค้น (recall) และไม่จำเป็นเสมอไป จึงควรทดลองเปรียบเทียบผลค้น
ตรวจคำค้นกับบทความหลักที่รู้จักอยู่แล้ว (known-item testing)
ศัพท์ควบคุมต้องตรวจในคลังศัพท์ควบคุม (thesaurus) ของแต่ละฐานข้อมูล ไม่ควรให้ AI เดาแล้วนำไปใช้ทันที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เวลารวม 18 นาที
คำชี้แจงผู้สอน:
แยกคำถามของตนเองเป็นชุดแนวคิด 2–3 ชุด แล้วสร้างคำค้นแบบบูลีนฉบับทดลอง
ขั้นตอน:
1. เลือกแนวคิดหลัก 2–3 กลุ่ม
2. เพิ่มคำพ้อง คำย่อ และรูปสะกด
3. เชื่อม OR ภายในกลุ่ม และ AND ระหว่างกลุ่ม
4. ระบุคำ/ศัพท์ควบคุมที่ต้องตรวจในฐานข้อมูลจริง
ถอดบทเรียน:
คำใดกว้างจนได้ผลลัพธ์ที่ไม่เกี่ยวข้องมากเกินไป และคำใดแคบจนเสี่ยงพลาดงานสำคัญ?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ผลผลิต: รายการอ้างอิงหลังลบรายการซ้ำ, ผลการคัดกรอง, จำนวนงานในผังการคัดเลือก
จุดตรวจสอบ: หากมีผู้ทบทวนสองคน ทั้งคู่จะตีความเกณฑ์ตรงกันหรือไม่
เกณฑ์ควรทดลองก่อนเห็นผลลัพธ์ทั้งหมด เพื่อลดการขยับเกณฑ์ตามสิ่งที่อยากได้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 AI ช่วยสอนในวิชาสถิติชั้นปีที่ 1
คำตอบ: คัดเข้า
เหตุผล: ประชากร การแทรกแซง ปี รูปแบบการวิจัย และผลลัพธ์ตรงกับเกณฑ์
เหตุใดมหาวิทยาลัยควรใช้ระบบ AI ช่วยสอน
คำตอบ: คัดออก
เหตุผล: เกณฑ์กำหนดให้คัดบทบรรณาธิการออกและต้องมีผลการศึกษาเชิงประจักษ์
ระบบสอนแบบปรับตัวในสถานศึกษา
คำตอบ: ตรวจฉบับเต็ม
เหตุผล: ประชากรยังไม่ชัด ควรอ่านฉบับเต็มแทนการเดาแล้วตัดออก
การสอนคณิตศาสตร์ ม.2 ด้วย Generative AI
คำตอบ: คัดออก
เหตุผล: เกณฑ์กำหนดให้คัดเข้าเฉพาะงานที่ศึกษานักศึกษามหาวิทยาลัย
โครงร่างการประเมินระบบ AI ช่วยสอนในมหาวิทยาลัย
คำตอบ: คัดออก
เหตุผล: เกณฑ์ตัวอย่างกำหนดให้งานที่คัดเข้าต้องมีผลการศึกษาเชิงประจักษ์แล้ว
ผู้ช่วย AI ให้คำแนะนำด้านการเขียนแก่นักศึกษาบัณฑิตศึกษา
คำตอบ: หารือ
เหตุผล: ขอบเขตการแทรกแซงยังไม่ชัด ควรหารือกับผู้ทบทวนอีกคนเพื่อให้เข้าใจเกณฑ์ตรงกัน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ผลผลิต: แบบบันทึกการประเมิน, ผลประเมินความเสี่ยงอคติ, ข้อจำกัดของหลักฐาน
จุดตรวจสอบ: เครื่องมือประเมินตรงกับประเภทงานวิจัยและเป้าหมายของงานทบทวนหรือไม่
หลีกเลี่ยงการรวมคะแนนจากรายการตรวจสอบเป็นตัวเลขเดียวโดยไม่อธิบายความหมายของแต่ละด้านที่ประเมิ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การทดลองแบบสุ่ม
พิจารณา: การสุ่ม การเบี่ยงเบน ข้อมูลหาย การวัด และการเลือกรายงาน
เครื่องมือ: RoB 2 หรือเครื่องมือเทียบเท่าในสาขา
การแทรกแซงไม่สุ่ม
พิจารณา: ตัวแปรกวน การเลือก การจัดกลุ่ม การเบี่ยงเบน และข้อมูลหาย
เครื่องมือ: ROBINS-I หรือเครื่องมือเทียบเท่า
งานเชิงคุณภาพ
พิจารณา: ความเหมาะสม การคัดเลือก การสะท้อนตน การวิเคราะห์ บริบท และความน่าเชื่อถือ
เครื่องมือ: CASP, JBI หรือเครื่องมือที่เหมาะกับสาขา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งานวิจัยแบบผสมผสานวิธี
พิจารณา: คุณภาพของแต่ละส่วนและเหตุผลในการผสานผล
เครื่องมือ: MMAT หรือเครื่องมือที่เหมาะกับงานแต่ละรูปแบบ ร่วมกับการประเมินวิธีผสานผล
การทบทวนวรรณกรรมอย่างเป็นระบบ
พิจารณา: โครงร่าง การค้น การเลือก การประเมิน การสังเคราะห์ และอคติ
เครื่องมือ: AMSTAR 2 หรือเครื่องมือประเมินงานทบทวนที่ตรงวัตถุประสงค์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ผลผลิต: แบบฟอร์มสกัดข้อมูล, ตารางหลักฐาน, บันทึกการตรวจสอบ
จุดตรวจสอบ: ข้อสังเคราะห์ทุกข้อย้อนกลับไปยังตำแหน่งในแหล่งข้อมูลได้หรือไม่
อย่าสกัดเฉพาะข้อสรุปของผู้เขียน ให้เก็บบริบท ประชากร วิธีวัด และข้อจำกัดที่จำเป็นต่อการแปลผล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หากการศึกษาต่างกันมาก การไม่รวมเป็นค่าประมาณเดียวอาจเป็นการตัดสินใจที่มีคุณภาพกว่า
การสังเคราะห์เชิงบรรยายต้องมีโครงสร้างและตรรกะ ไม่ใช่สรุปบทความทีละเรื่อง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ผลผลิต: โครงสร้างการสังเคราะห์, ตารางหรือแผนที่, รายการตรวจสอบการรายงาน
จุดตรวจสอบ: ข้อสรุปยังอยู่ภายในขอบเขตของหลักฐานและโครงร่างที่กำหนดไว้หรือไม่
ใช้แนวทางการรายงานที่ตรงกับประเภทงานทบทวนและสาขา ไม่ใช้ PRISMA แทนระเบียบวิธีวิจัย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คำว่า รายการ (record) รายงาน (report) และงานวิจัย (study) มีความหมายต่างกัน
ผลรวมเหตุผลที่ตัดออกในขั้นฉบับเต็มต้องตรงกับจำนวนรายงานฉบับเต็มที่ตัดออก
ใช้เครื่องมือวางแผนผัง PRISMA ใน LitWise เพื่อตรวจความสอดคล้องเบื้องต้น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เวลารวม 20 นาที
คำชี้แจงผู้สอน:
เติมผลผลิตและจุดตรวจสอบของทั้ง 6 ระยะสำหรับโครงการของตนเอง
ขั้นตอน:
1. เขียนผลผลิตที่ต้องมีในแต่ละระยะ
2. ระบุผู้รับผิดชอบและเครื่องมือ
3. กำหนดจุดตรวจสอบก่อนส่งงานต่อ
4. วง 1 จุดเสี่ยงที่ต้องทดลองก่อน
ถอดบทเรียน:
ระยะใดมีการตัดสินใจที่ยังไม่มีหลักฐานหรือผู้รับผิดชอบชัดเจน?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ใช้สไลด์นี้เปิดช่วงใหม่
เวลาที่แนะนำ: 40–50 นาที
เป้าหมายของช่วง: เลือกเครื่องมือให้ตรงขั้นงาน เก็บที่มาของข้อมูล และใช้ AI เป็นเพียงร่างที่ต้องตรวจ ไม่ใช่ผู้ตัดสินความถูกต้อง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Zotero (จัดการเอกสารอ้างอิง)
เหมาะกับ: เป็นตัวเลือกเริ่มต้นที่เหมาะกับนักศึกษาและทีมวิจัยส่วนใหญ่ มีส่วนเสริมเบราว์เซอร์และระบบที่เปิดกว้าง
ระวัง: ก่อนทำงานร่วมกันควรตกลงโครงสร้างโฟลเดอร์ แท็ก และวิธีเก็บไฟล์แนบ
การเข้าถึง: ตัวโปรแกรมใช้ฟรี · พื้นที่เพิ่มมีค่าใช้จ่าย
ลิงก์: https://www.zotero.org/
Mendeley Reference Manager (จัดการเอกสารอ้างอิง)
เหมาะกับ: ผู้ที่ต้องการคลังไฟล์ PDF และระบบแทรกการอ้างอิงที่ใช้งานไม่ซับซ้อน
ระวัง: ควรทดลองส่งออกข้อมูลและการทำงานร่วมกันก่อนย้ายคลังขนาดใหญ่ทั้งหมดเข้าไป
การเข้าถึง: ใช้ฟรี
ลิงก์: https://www.mendeley.com/reference-management/reference-manager
EndNote (จัดการเอกสารอ้างอิง)
เหมาะกับ: ห้องปฏิบัติการหรือมหาวิทยาลัยที่ใช้ EndNote เป็นมาตรฐานและมีรูปแบบอ้างอิงพร้อมอยู่แล้ว
ระวัง: ตรวจสิทธิ์ของมหาวิทยาลัยก่อนซื้อ เพราะหลายแห่งมีใบอนุญาตให้ใช้อยู่แล้ว
การเข้าถึง: มีค่าใช้จ่าย · สถาบันอาจมีสิทธิ์ให้ใช้
ลิงก์: https://endnote.com/
Bibliome (จัดการเอกสารอ้างอิง)
เหมาะกับ: ผู้ที่ต้องการจัดระเบียบและค้นไฟล์ PDF ในเครื่อง โดยให้ระบบช่วยจัดหมวดหมู่และซิงก์ผ่าน iCloud
ระวัง: ปัจจุบันเน้นอุปกรณ์ Apple ควรทดลองนำเข้า ส่งออก อ้างอิง และทำงานร่วมกันก่อนย้ายคลังหลัก
การเข้าถึง: ซื้อครั้งเดียว · ใช้บน macOS
ลิงก์: https://psychosonicconsulting.com/bibliome
Liner (ค้นบทความและช่วยอ่านงานวิจัย)
เหมาะกับ: ช่วยค้นเว็บและงานวิชาการด้วย AI รวบรวมแหล่งข้อมูล และสำรวจคำถามวิจัยในช่วงเริ่มต้น
ระวัง: ต้องเปิดบทความที่อ้างถึงและตรวจทุกข้อกล่าวอ้าง เพราะคำตอบจาก AI ไม่ใช่การค้นฐานข้อมูลที่ทำซ้ำได้
การเข้าถึง: มีทั้งแผนฟรีและเสียเงิน
ลิงก์: https://app.liner.com/
Keenious (ค้นบทความและช่วยอ่านงานวิจัย)
เหมาะกับ: ค้นงานที่เกี่ยวข้องจากคำถาม ข้อความ หรือต้นฉบับ และช่วยสำรวจหัวข้อที่เชื่อมกันข้ามสาขา
ระวัง: บันทึกคำถามหรือเอกสารที่ใช้สร้างคำแนะนำ และค้นเพิ่มในฐานข้อมูลหลักของสาขา
การเข้าถึง: มีแผนฟรี แผนเสียเงิน และสิทธิ์ระดับสถาบัน
ลิงก์: https://keenious.com/landing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Iris.ai (ค้นบทความและช่วยอ่านงานวิจัย)
เหมาะกับ: สำรวจงานที่เชื่อมโยงกับบทความตั้งต้น และจัดกลุ่มงานตามแนวคิดหรือหัวข้อ
ระวัง: ใช้แผนผังหัวข้อเพื่อหาเบาะแส ไม่ควรถือว่าครอบคลุมงานทั้งหมด และต้องเปิดอ่านบทความต้นฉบับ
การเข้าถึง: มีค่าใช้จ่าย · อาจมีช่วงทดลองหรือสิทธิ์ระดับสถาบัน
ลิงก์: https://iris.ai/features/
Elicit (ค้นบทความและช่วยอ่านงานวิจัย)
เหมาะกับ: ค้นบทความและสร้างตารางข้อมูลเบื้องต้น เพื่อช่วยสำรวจและเตรียมสกัดข้อมูล
ระวัง: ตรวจข้อมูลที่สกัดกับบทความฉบับเต็ม และอย่าถือว่าฐานข้อมูลหรือการจัดอันดับครอบคลุมทุกแหล่งที่โครงร่างกำหนด
การเข้าถึง: มีทั้งแผนฟรีและเสียเงิน
ลิงก์: https://elicit.com/
Consensus (ค้นบทความและช่วยอ่านงานวิจัย)
เหมาะกับ: ดูภาพรวมแบบมีลิงก์ไปยังแหล่งอ้างอิงว่า งานวิจัยตอบคำถามภาษาธรรมดาไว้อย่างไร
ระวัง: ใช้เพื่อทำความเข้าใจหัวข้อเบื้องต้น ไม่ควรใช้แทนการค้นอย่างครอบคลุม การประเมินคุณภาพ หรือการอ่านบทความ
การเข้าถึง: มีทั้งแผนฟรีและเสียเงิน
ลิงก์: https://consensus.app/
SciSpace (ค้นบทความและช่วยอ่านงานวิจัย)
เหมาะกับ: ค้นงานวิจัยและถามคำถามเกี่ยวกับบทความแต่ละเรื่องระหว่างอ่าน
ระวัง: ตรวจคำตอบกับส่วนวิธีวิจัย ตารางผล และข้อจำกัดในบทความ และไม่ควรอ้างข้อความอธิบายที่ระบบสร้างขึ้น
การเข้าถึง: มีทั้งแผนฟรีและเสียเงิน
ลิงก์: https://scispace.com/
Sourcely (ค้นบทความและช่วยอ่านงานวิจัย)
เหมาะกับ: ค้นแหล่งข้อมูลจากหัวข้อหรือข้อความ และกรองงานเบื้องต้นระหว่างสำรวจวรรณกรรม
ระวัง: ควรบันทึกกระบวนการค้นจริงแยกต่างหาก และตรวจความเกี่ยวข้อง สถานะการตีพิมพ์ และข้อมูลบรรณานุกรมจากต้นทาง
การเข้าถึง: มีทั้งแผนฟรีและเสียเงิน
ลิงก์: https://www.sourcely.net/
Litmaps (ค้นบทความและช่วยอ่านงานวิจัย)
เหมาะกับ: ติดตามงานที่อ้างถึงกันจากบทความตั้งต้น และดูพัฒนาการของกลุ่มงานวิจัยตามเวลา
ระวัง: แผนผังการอ้างอิงอาจไม่เห็นงานที่อยู่นอกเครือข่ายของบทความตั้งต้น จึงต้องค้นฐานข้อมูลและเอกสารนอกวารสารเพิ่มเติม
การเข้าถึง: มีทั้งแผนฟรีและเสียเงิน
ลิงก์: https://www.litmaps.com/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บริบท: หัวข้อ สาขา เป้าหมาย และข้อมูลที่มีอยู่
2. งานที่ให้ช่วย: ระบุงานหนึ่งอย่างให้ชัดว่าอยากให้ AI ช่วยอะไร
3. ข้อกำหนดการใช้หลักฐาน: กำหนดว่าใช้แหล่งใดได้ ต้องตรวจสอบอะไร และห้ามสร้างข้อมูล ตัวเลข หรือแหล่งอ้างอิงขึ้นเอง
4. รูปแบบคำตอบ: กำหนดโครงให้เห็นข้อมูลที่ขาดและความไม่แน่นอน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ขยายชุดคำค้น
เหมาะกับ: แตกหัวข้อเป็นแนวคิดหลัก พร้อมคำพ้อง คำย่อ รูปสะกด และคำที่ต้องนำไปทดลองค้นในฐานข้อมูล
พรอมต์:
บริบท:
ฉันกำลังทบทวนเรื่อง [หัวข้อ] ใน [สาขา/ประชากร/บริบท] โดยมีคำถามเบื้องต้นว่า [คำถามหรือการตัดสินใจที่ต้องการข้อมูลสนับสนุน]
งานที่ให้ช่วย:
ช่วยสร้างชุดคำสำหรับวางแผนค้นฐานข้อมูล แยกคำถามเป็นแนวคิดหลัก แล้วเสนอคำพ้อง คำย่อ รูปสะกด คำที่กว้างกว่า และคำที่เฉพาะกว่าของแต่ละแนวคิด
ข้อกำหนดการใช้หลักฐาน:
- อย่าเรียกคำใดว่าเป็นศัพท์ควบคุมอย่างเป็นทางการ หากยังไม่ได้ตรวจในคลังศัพท์ควบคุม (thesaurus) ของฐานข้อมูลนั้น
- แยกคำค้นทั่วไปออกจากคำที่ฉันต้องนำไปตรวจว่าเป็นศัพท์ควบคุมจริงหรือไม่
- ชี้คำที่อาจดึงผลลัพธ์ไม่เกี่ยวข้อง พร้อมอธิบายสาเหตุ
- อย่าอ้างว่ารายการคำนี้ครอบคลุมครบถ้วนแล้ว
รูปแบบคำตอบ:
ทำตาราง: แนวคิดหลัก | คำค้นและรูปแบบคำ | ศัพท์ควบคุมที่ต้องตรวจ | ความเสี่ยงที่จะได้ผลลัพธ์ที่ไม่เกี่ยวข้อง จากนั้นร่างชุดคำค้น Boolean และทำเครื่องหมายส่วนที่ต้องปรับให้ตรงกับ [ชื่อฐานข้อมูล]
---
ตรวจความชัดของคำถามทบทวน
เหมาะกับ: ตรวจว่าคำถามชัด ตอบได้จริง และสอดคล้องกับหลักฐานที่คาดว่าจะพบหรือไม่ ก่อนเลือกวิธีทบทวน
พรอมต์:
บริบท:
คำถามทบทวนที่กำลังพิจารณาคือ [คำถาม] อยู่ใน [สาขาหรือบริบท] ต้องการนำผลไปใช้เพื่อ [การตัดสินใจหรือประโยชน์ทางวิชาการ] และมีข้อจำกัดด้าน [เวลา/ทีม/การเข้าถึงข้อมูล]
งานที่ให้ช่วย:
ช่วยวิจารณ์คำถามนี้ก่อนที่ฉันจะกำหนดรูปแบบการทบทวน ชี้คำที่กำกวม สมมติฐานที่ซ่อนอยู่ ขอบเขตที่กว้างหรือแคบเกินไป และชนิดหลักฐานที่ต้องมีจึงจะตอบคำถามได้
ข้อกำหนดการใช้หลักฐาน:
- อย่าเลือกวิธีทบทวนจากชื่อหัวข้อเพียงอย่างเดียว
- บอกสมมติฐานทุกข้อที่ใช้เกี่ยวกับสาขาและหลักฐานที่คาดว่าจะมี
- แยกเรื่องที่ตรวจได้ด้วยการค้นนำร่อง ออกจากเรื่องที่ควรหารือกับอาจารย์ที่ปรึกษาหรือผู้มีส่วนได้ส่วนเสีย
รูปแบบคำตอบ:
ตอบเป็น 5 ส่วน: 1) จุดที่ต้องทำให้ชัด 2) คำถามฉบับปรับใหม่ 3 แบบที่มีขอบเขตต่างกัน 3) หลักฐานที่แต่ละแบบต้องใช้ 4) ความเป็นไปได้ในการทำจริง และ 5) คำถามที่ควรนำไปคุยกับอาจารย์ที่ปรึกษาหรือทีมทบทวน
---
เปรียบเทียบบทความที่ให้ไว้
เหมาะกับ: ทำตารางเปรียบเทียบก่อนสังเคราะห์ โดยไม่เติมข้อมูลที่บทความไม่ได้รายงาน
พรอมต์:
บริบท:
ฉันจะให้บทความหรือบันทึกจำนวน [จำนวน] รายการเกี่ยวกับ [หัวข้อ] และต้องการเปรียบเทียบเพื่อ [เป้าหมายของงานทบทวน]
งานที่ให้ช่วย:
ดึงเฉพาะข้อมูลที่ปรากฏในเอกสารที่ให้ แล้วจัดทำตารางเปรียบเทียบหลักฐาน
ข้อกำหนดการใช้หลักฐาน:
- ใช้เฉพาะเอกสารหรือบันทึกที่ฉันให้ในการสนทนานี้
- ทุกช่องต้องระบุชื่อไฟล์หรือรหัสงาน และหน้า ตาราง หรือหัวข้อย่อย หากมีข้อมูลตำแหน่ง
- หากเอกสารไม่ระบุ ให้เขียนว่า “ไม่รายงาน” ห้ามคาดเดาเติมเอง
- แยกข้อค้นพบของผู้เขียนออกจากการตีความของคุณ และทำเครื่องหมายเมื่อแต่ละงานให้ผลขัดกัน
รูปแบบคำตอบ:
ใช้คอลัมน์: การอ้างอิง | เป้าหมาย | บริบท | แบบแผนวิจัย | กลุ่มตัวอย่าง/ข้อมูล | ตัววัดหรือปรากฏการณ์ | ข้อค้นพบหลัก | ข้อจำกัด | ตำแหน่งต้นทาง | หมายเหตุผู้ทบทวน แล้วสรุปเฉพาะรูปแบบที่ตารางรองรับ พร้อมระบุคำถามที่ยังตอบไม่ได้
---
ตรวจข้ออ้างเรื่องช่องว่างวิจัย
เหมาะกับ: แยกให้ออกว่าสิ่งที่เรียกว่าช่องว่าง เป็นการขาดหลักฐาน ข้อจำกัดของวิธี ผลที่ขัดกัน หรือเกิดจากการค้นยังไม่ครอบคลุม
พรอมต์:
บริบท:
ชุดเอกสารปัจจุบันของฉันมาจาก [ฐานข้อมูล/ช่วงปี/ภาษา/ขอบเขตการคัดเลือก] และกำลังจะเสนอว่าช่องว่างคือ [ข้อความที่ต้องการตรวจ]
งานที่ให้ช่วย:
ช่วยทดสอบว่าข้ออ้างเรื่องช่องว่างนี้หนักแน่นเพียงใด เมื่อเทียบกับชุดเอกสารและขอบเขตการค้นที่ฉันให้
ข้อกำหนดการใช้หลักฐาน:
- การไม่พบในเอกสารชุดนี้ ไม่ได้แปลว่าไม่มีงานวิจัยอยู่จริง
- ทุกข้อสังเกตต้องย้อนกลับไปยังงานวิจัยหรือบันทึกการค้นที่ฉันให้
- แยกช่องว่างด้านหลักฐาน ประชากรหรือบริบท ข้อจำกัดด้านระเบียบวิธี ผลที่ขัดกัน ช่องว่างทางทฤษฎี และช่องว่างจากการค้นไม่ครอบคลุม
- ระบุสิ่งที่ต้องค้นเพิ่มหรือให้ผู้เชี่ยวชาญช่วยตรวจ ก่อนนำข้ออ้างนี้ไปใช้
รูปแบบคำตอบ:
ทำตาราง: ประเภทช่องว่างที่เป็นไปได้ | หลักฐานสนับสนุน | หลักฐานโต้แย้ง | ขอบเขตหรือความไม่แน่นอน | ขั้นตอนตรวจสอบถัดไป แล้วช่วยร่างข้อความอธิบายช่องว่างแบบระมัดระวังและไม่สรุปเกินข้อมูล
---
ตรวจข้อความกับแหล่งอ้างอิง
เหมาะกับ: ตรวจว่าประโยคในวิทยานิพนธ์หรือบทความกล่าวตรงและไม่แรงเกินกว่างานต้นฉบับรองรับ
พรอมต์:
บริบท:
ข้อความร่าง: [วางข้อความ]
แหล่งที่ตั้งใจใช้อ้างอิง: [รายการอ้างอิง/DOI/เอกสารที่ให้]
งานที่ให้ช่วย:
ตรวจว่าแหล่งข้อมูลรองรับเนื้อหาและระดับความหนักแน่นของข้อความนี้หรือไม่
ข้อกำหนดการใช้หลักฐาน:
- หากเข้าถึงหรือหาตำแหน่งข้อความต้นทางไม่ได้ ให้บอกตามตรงและอย่ายืนยันว่าได้ตรวจแล้ว
- ตรวจแบบแผนวิจัย ประชากร บริบท ตัวเปรียบเทียบ ผลลัพธ์ ค่าประมาณ ความไม่แน่นอน และข้อจำกัดที่ผู้เขียนระบุ
- แยกความสัมพันธ์ออกจากเหตุและผล และแยกนัยสำคัญทางสถิติออกจากความสำคัญในทางปฏิบัติ
- ห้ามสร้างข้อความอ้างตรง เลขหน้า DOI หรือผลการศึกษาขึ้นเอง
รูปแบบคำตอบ:
รายงานผลเป็น [รองรับ | รองรับบางส่วน | ไม่รองรับ | ยังตรวจไม่ได้] พร้อมตำแหน่งหลักฐาน จุดที่ไม่ตรง บริบทที่ขาด และข้อความฉบับแก้ที่มีน้ำหนักไม่เกินกว่าหลักฐาน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บริบท:
ฉันกำลังทบทวนเรื่อง [หัวข้อ] ใน [สาขา/ประชากร/บริบท] โดยมีคำถามเบื้องต้นว่า [คำถามหรือการตัดสินใจที่ต้องการข้อมูลสนับสนุน]
งานที่ให้ช่วย:
ช่วยสร้างชุดคำสำหรับวางแผนค้นฐานข้อมูล แยกคำถามเป็นแนวคิดหลัก แล้วเสนอคำพ้อง คำย่อ รูปสะกด คำที่กว้างกว่า และคำที่เฉพาะกว่าของแต่ละแนวคิด
ข้อกำหนดการใช้หลักฐาน:
- อย่าเรียกคำใดว่าเป็นศัพท์ควบคุมอย่างเป็นทางการ หากยังไม่ได้ตรวจในคลังศัพท์ควบคุม (thesaurus) ของฐานข้อมูลนั้น
- แยกคำค้นทั่วไปออกจากคำที่ฉันต้องนำไปตรวจว่าเป็นศัพท์ควบคุมจริงหรือไม่
- ชี้คำที่อาจดึงผลลัพธ์ไม่เกี่ยวข้อง พร้อมอธิบายสาเหตุ
- อย่าอ้างว่ารายการคำนี้ครอบคลุมครบถ้วนแล้ว
รูปแบบคำตอบ:
ทำตาราง: แนวคิดหลัก | คำค้นและรูปแบบคำ | ศัพท์ควบคุมที่ต้องตรวจ | ความเสี่ยงที่จะได้ผลลัพธ์ที่ไม่เกี่ยวข้อง จากนั้นร่างชุดคำค้น Boolean และทำเครื่องหมายส่วนที่ต้องปรับให้ตรงกับ [ชื่อฐานข้อมูล]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อย่านำข้อความที่ AI สร้างขึ้นไปใช้อ้างอิงเป็นหลักฐาน ต้องย้อนกลับไปยังบทความหรือชุดข้อมูลต้นฉบับ
2. เปิดอ่านแหล่งต้นฉบับก่อนเชื่อข้อความอ้างตรง ตัวเลข วิธีวิจัย DOI หรือเลขหน้าที่ AI ให้มา
3. บันทึกว่าใช้ AI ช่วยตรงไหน และให้ผู้วิจัยเป็นผู้ตัดสินใจเรื่องการคัดเลือก การประเมิน และการตีความ
4. อย่าอัปโหลดข้อมูลลับ ข้อมูลระบุตัวบุคคล งานที่ติดเงื่อนไขเผยแพร่ หรือเอกสารที่ยังไม่ตีพิมพ์ โดยไม่ตรวจความยินยอมและนโยบายของสถาบันก่อน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แบบบันทึกการค้น
ช่วยให้ผู้อื่นตรวจสอบและนำคำค้นไปค้นตามในแต่ละฐานข้อมูลได้
ฐานข้อมูล: [ชื่อ]
แพลตฟอร์ม: [ผู้ให้บริการ]
วันที่ค้น: [YYYY-MM-DD]
ช่วงข้อมูล: [เริ่ม–สิ้นสุด]
คำค้นเต็ม: [วางคำค้น]
ตัวกรอง: [ระบุหรือไม่มี]
จำนวนผลลัพธ์: [n]
ชื่อไฟล์ส่งออก: [ชื่อ]
หมายเหตุและการปรับ: [เหตุผล]
---
แบบบันทึกผลการคัดเลือก
ช่วยให้ตัดสินใจคัดกรองอย่างสม่ำเสมอและอธิบายเหตุผลได้
รหัสงาน: [ผู้แต่ง-ปี]
ผู้ทบทวน: [ชื่อ]
ระยะ: [ชื่อ/บทคัดย่อ | ฉบับเต็ม]
ผลการพิจารณา: [คัดเข้า | คัดออก | รอหารือ]
เกณฑ์ที่ใช้: [เกณฑ์]
เหตุผลที่คัดออก: [เหตุผลเฉพาะหนึ่งข้อ]
หมายเหตุ: [บริบทหรือความไม่แน่นอน]
---
ตารางสกัดข้อมูล
เชื่อมบริบท ประเภทงานวิจัย ข้อค้นพบ และผลประเมินคุณภาพ
การอ้างอิง | ประเทศ/บริบท | เป้าหมาย | ประเภทงานวิจัย | กลุ่มตัวอย่าง/ข้อมูล | การแทรกแซงหรือปรากฏการณ์ | ผลลัพธ์/ข้อค้นพบ | บริบท | ข้อจำกัด | ผลประเมิน | หมายเหตุผู้ทบทวน
---
แบบร่างโครงร่างการทบทวน 1 หน้า
ช่วยให้ทีมเข้าใจตรงกันก่อนขยายการค้น
การตัดสินใจที่งานนี้ต้องช่วยสนับสนุน:
คำถามทบทวน:
ชนิดงานทบทวนและเหตุผล:
ประชากร/ปรากฏการณ์:
แนวคิด/การแทรกแซง:
บริบท/ตัวเปรียบเทียบ:
ประเภทหลักฐานที่จะคัดเข้า:
แหล่งที่จะค้น:
แนวทางประเมิน:
แนวทางสังเคราะห์:
แผนลงทะเบียน/รายงาน:
ข้อจำกัดที่ทราบ: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เลือกวิธีก่อนตั้งคำถาม — เลือกชื่อวิธีที่กำลังนิยมก่อนกำหนดข้อสรุปที่ต้องการและหลักฐานที่จะใช้
2. พึ่งฐานข้อมูลเดียว — คิดว่าฐานข้อมูลเพียงแห่งเดียวหรือ Google Scholar ครอบคลุมงานทั้งหมดแล้ว
3. เปลี่ยนเกณฑ์กลางทาง — เปลี่ยนเกณฑ์หลังเห็นผลการค้นโดยไม่บันทึกเหตุผล
4. ใช้แบบประเมินไม่ตรงประเภท — ใช้รายการตรวจสอบชุดเดียวกับงานวิจัยที่มีระเบียบวิธีต่างกัน
5. ย้อนกลับหาแหล่งเดิมไม่ได้ — เก็บข้อค้นพบโดยไม่ระบุหน้า ตาราง หรือข้อความต้นทาง
6. สรุปเกินหลักฐาน — อ้างเหตุและผลหรือเหมารวมกว้างกว่าที่หลักฐานรองรับ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ใช้สไลด์นี้เปิดช่วงใหม่
เวลาที่แนะนำ: 20–30 นาที
เป้าหมายของช่วง: ปิดช่องว่างด้วยรายการตรวจสอบ ระบุงาน 30 วันแรก และกำหนดหลักฐานว่าทำแต่ละขั้นเสร็จแล้ว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[เตรียม] เขียนคำถามทบทวนวรรณกรรมให้ชัดเจน และระบุช่องว่างความรู้ที่ต้องการเติมเต็ม
2. [เตรียม] เลือกวิธีทบทวนและบันทึกเหตุผล
3. [วางแผน] กำหนดและทดลองเกณฑ์คัดเข้า/คัดออก
4. [วางแผน] เลือกกลุ่มฐานข้อมูลและแหล่งอื่นที่เกี่ยวข้อง
5. [ค้น] ทดสอบคำค้นกับบทความหลักที่รู้จัก
6. [ค้น] เก็บคำค้น วันที่ ตัวกรอง จำนวน และไฟล์ส่งออก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[คัดกรอง] ลบรายการซ้ำโดยยังตรวจย้อนกลับไปยังแหล่งที่มาได้
8. [คัดกรอง] ซักซ้อมเกณฑ์ให้เข้าใจตรงกันและคัดกรองสองระยะ
9. [ประเมิน] ใช้เครื่องมือให้ตรงกับรูปแบบการวิจัย และหาข้อสรุปเมื่อผลประเมินไม่ตรงกัน
10. [สกัด] ทดลองแบบสกัดข้อมูลที่ตรวจย้อนกลับได้
11. [สังเคราะห์] ใช้วิธีสังเคราะห์ที่สอดคล้องกับคำถาม
12. [รายงาน] ตรวจแนวทางรายงานและสรุปขั้นตอนการคัดเลือก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ให้ผู้เรียนใส่ชื่อผู้รับผิดชอบและวันส่งจริงในแต่ละสัปดาห์
หากทำคนเดียว ให้กำหนดจุดขอข้อเสนอแนะจากอาจารย์ บรรณารักษ์ หรือเพื่อนวิจัย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ใช้สไลด์นี้เปิดช่วงใหม่
เวลาที่แนะนำ: 40–50 นาที
เป้าหมายของช่วง: ภาคเสริมสำหรับใช้หลังจากกำหนดคำถาม ออกแบบการวิจัย และทราบชนิดข้อมูลแล้ว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ให้ผู้เรียนยกตัวอย่างว่าการวัดก่อน–หลังกับสองกลุ่มอิสระใช้สถิติต่างกัน แม้โจทย์จะพูดว่า ‘เปรียบเทียบ 2 กลุ่ม’ เหมือนกัน
แผนผังตัดสินใจเป็นจุดเริ่มต้น ไม่ใช่ระบบที่เลือกคำตอบแทนนักวิจัย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สาธิตเครื่องมือเลือกสถิติใน LitWise แบบสด 2 เส้นทาง
เส้นทางตัวอย่าง 1: เปรียบเทียบ → 2 กลุ่ม → อิสระ → เชิงปริมาณ → Welch t-test
เส้นทางตัวอย่าง 2: พยากรณ์ → ผลลัพธ์ 2 ทาง → การถดถอยโลจิสติก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One-sample t-test
ใช้เมื่อ: เปรียบเทียบค่าเฉลี่ยของกลุ่มตัวอย่างหนึ่งกลุ่มกับค่ามาตรฐานหรือเกณฑ์ที่กำหนด
ตัวอย่างคำถาม: คะแนนเฉลี่ยของนักศึกษาต่างจากเกณฑ์ 70 คะแนนหรือไม่
ตรวจ: ตัวอย่างเป็นอิสระ ตัวแปรเป็นเชิงปริมาณ และข้อมูลหรือเศษเหลือไม่เบี่ยงเบนจากการแจกแจงปกติมากเกินไป
ข้อควรระวัง: Wilcoxon signed-rank ทดสอบตำแหน่งของการแจกแจงภายใต้เงื่อนไขเรื่องความสมมาตร จึงไม่ควรเขียนว่าเป็นการทดสอบค่าเฉลี่ยหรือมัธยฐานโดยอัตโนมัติ
ทางเลือก: Wilcoxon signed-rank — ข้อมูลเป็นอันดับหรือเบ้มาก โดยตรวจเงื่อนไขของการทดสอบทางเลือกแล้ว
02 Welch’s independent-samples t-test
ใช้เมื่อ: เปรียบเทียบค่าเฉลี่ยของสองกลุ่มที่เป็นอิสระจากกัน
ตัวอย่างคำถาม: คะแนนเฉลี่ยของกลุ่มเรียนออนไลน์กับกลุ่มเรียนในชั้นเรียนต่างกันหรือไม่
ตรวจ: แต่ละหน่วยสังเกตเป็นอิสระ ตัวแปรตามเป็นเชิงปริมาณ และการแจกแจงของข้อมูลภายในแต่ละกลุ่มไม่เบี่ยงเบนจากการแจกแจงปกติมากเกินไป
ข้อควรระวัง: เลือก Welch เป็นค่าเริ่มต้นได้เมื่อไม่มั่นใจว่าความแปรปรวนเท่ากัน และไม่จำเป็นต้องทดสอบ Levene ก่อนเพื่อเลือกสูตร t-test
ทางเลือก: Mann–Whitney U — ข้อมูลเป็นอันดับหรือมีการกระจายที่ทำให้ t-test ไม่เหมาะ ทั้งนี้การแปลผลเป็นความต่างของมัธยฐานต้องมีเงื่อนไขเพิ่มเติม
03 Paired-samples t-test
ใช้เมื่อ: เปรียบเทียบค่าเฉลี่ยของข้อมูลก่อน–หลัง หรือข้อมูลสองชุดที่จับคู่กัน
ตัวอย่างคำถาม: คะแนนเฉลี่ยของนักศึกษาก่อนและหลังอบรมต่างกันหรือไม่
ตรวจ: แต่ละคู่สัมพันธ์กัน แต่คู่หนึ่งเป็นอิสระจากอีกคู่ และค่าผลต่างของแต่ละคู่มีการแจกแจงใกล้ปกติ
ข้อควรระวัง: ตรวจการแจกแจงของค่าผลต่าง ไม่ใช่ตรวจคะแนนก่อนและหลังแยกกัน
ทางเลือก: Wilcoxon signed-rank — ผลต่างเป็นอันดับหรือเบ้มาก และผ่านเงื่อนไขของวิธีทางเลือก
04 One-way ANOVA
ใช้เมื่อ: เปรียบเทียบค่าเฉลี่ยตั้งแต่สามกลุ่มขึ้นไป โดยมีตัวแปรอิสระหนึ่งตัว
ตัวอย่างคำถาม: คะแนนเฉลี่ยของนักศึกษาในสามรูปแบบการสอนต่างกันหรือไม่
ตรวจ: หน่วยสังเกตเป็นอิสระ เศษเหลือใกล้ปกติ และตรวจความแปรปรวนระหว่างกลุ่ม; หากไม่เท่ากันให้พิจารณา Welch ANOVA
ข้อควรระวัง: ผล ANOVA ที่มีนัยสำคัญยังไม่บอกว่าคู่ใดต่างกัน ต้องวางแผนเปรียบเทียบหรือทำ post-hoc ที่เหมาะสม
ทางเลือก: Kruskal–Wallis — ข้อมูลเป็นอันดับหรือไม่เหมาะกับแบบจำลอง ANOVA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Factorial ANOVA / general linear model
ใช้เมื่อ: เปรียบเทียบค่าเฉลี่ยเมื่อมีตัวแปรอิสระตั้งแต่สองตัว และต้องการตรวจปฏิสัมพันธ์ระหว่างตัวแปร
ตัวอย่างคำถาม: รูปแบบการสอนและระดับชั้นมีผลต่อคะแนน และมีปฏิสัมพันธ์กันหรือไม่
ตรวจ: หน่วยสังเกตเป็นอิสระ ค่าส่วนเหลือมีการแจกแจงใกล้เคียงปกติ ความแปรปรวนเท่ากันระหว่างกลุ่ม และมีข้อมูลเพียงพอในแต่ละเซลล์ของการออกแบบ
ข้อควรระวัง: หากปฏิสัมพันธ์ (interaction) มีนัยสำคัญ ควรแปลผลจากอิทธิพลอย่างง่าย (simple effects) หรือค่าเฉลี่ยส่วนเพิ่มที่ประมาณได้ (estimated marginal means) แทนการดูอิทธิพลหลักเพียงอย่างเดียว
ทางเลือก: ไม่มีทางเลือกอัตโนมัติ; ปรับแบบจำลองตามข้อมูล
06 Binomial test
ใช้เมื่อ: ทดสอบว่าสัดส่วนของผลลัพธ์สองทางต่างจากค่าที่กำหนดหรือไม่
ตัวอย่างคำถาม: สัดส่วนนักศึกษาที่สอบผ่านต่างจากเกณฑ์ร้อยละ 70 หรือไม่
ตรวจ: ผลลัพธ์มีสองทาง การสังเกตเป็นอิสระ และความน่าจะเป็นของผลลัพธ์คงที่ในแต่ละครั้ง
ข้อควรระวัง: เป็นการทดสอบแบบคำนวณค่าที่แน่นอน (exact test) จึงใช้กับตัวอย่างขนาดเล็กได้ แต่ยังต้องตรวจว่าหน่วยสังเกตเป็นอิสระจริง
ทางเลือก: ไม่มีทางเลือกอัตโนมัติ; ปรับแบบจำลองตามข้อมูล
07 Repeated-measures ANOVA / Friedman test
ใช้เมื่อ: เปรียบเทียบค่าที่วัดซ้ำตั้งแต่สามครั้งขึ้นไปในหน่วยตัวอย่างเดียวกัน
ตัวอย่างคำถาม: คะแนนของผู้เรียนที่วัดสามช่วงเวลาแตกต่างกันหรือไม่
ตรวจ: ข้อมูลเชื่อมโยงกับหน่วยตัวอย่างถูกต้อง เศษเหลือเป็นไปตามข้อตกลงเบื้องต้น และสำหรับการวิเคราะห์ความแปรปรวนแบบวัดซ้ำ (repeated-measures ANOVA) ต้องตรวจภาวะทรงกลม (sphericity) หรือใช้วิธีปรับแก้
ข้อควรระวัง: หากมีข้อมูลหาย ช่วงเวลาวัดไม่เท่ากัน หรือต้องการตัวแปรร่วม แบบจำลองผสมมักเหมาะกว่าวิธีพื้นฐานนี้
ทางเลือก: Friedman test — ข้อมูลอย่างน้อยเป็นอันดับ วัดครบทุกช่วง และไม่เหมาะกับการวิเคราะห์ความแปรปรวนแบบวัดซ้ำ
08 Chi-square goodness-of-fit test
ใช้เมื่อ: ทดสอบว่าความถี่ที่พบในแต่ละหมวดต่างจากความถี่ที่คาดไว้หรือไม่
ตัวอย่างคำถาม: สัดส่วนผู้ตอบในแต่ละตัวเลือกต่างจากสัดส่วนที่คาดไว้หรือไม่
ตรวจ: ใช้จำนวนนับ การสังเกตเป็นอิสระ และตรวจความถี่คาดหวัง; แนวทางที่ใช้บ่อยคืออย่างน้อย 80% ของเซลล์มีค่าคาดหวังตั้งแต่ 5 และไม่มีเซลล์ต่ำกว่า 1
ข้อควรระวัง: หากค่าคาดหวังต่ำ ควรรวมหมวดหมู่อย่างมีเหตุผล หรือใช้วิธีคำนวณค่าที่แน่นอนหรือวิธีมอนติคาร์โล (exact/Monte Carlo method) ที่เหมาะสม
ทางเลือก: ไม่มีทางเลือกอัตโนมัติ; ปรับแบบจำลองตามข้อมูล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 Chi-square test of independence
ใช้เมื่อ: ทดสอบความสัมพันธ์ระหว่างตัวแปรเชิงกลุ่มสองตัว
ตัวอย่างคำถาม: รูปแบบการเรียนสัมพันธ์กับผลสอบผ่านหรือไม่ผ่านหรือไม่
ตรวจ: การสังเกตเป็นอิสระ และความถี่คาดหวังเพียงพอ; แนวทางที่ใช้บ่อยคืออย่างน้อย 80% ของเซลล์มีค่าคาดหวังตั้งแต่ 5 และไม่มีเซลล์ต่ำกว่า 1
ข้อควรระวัง: หากเป็นข้อมูลก่อน–หลังในคนเดิม ให้ใช้การทดสอบ McNemar ไม่ใช่การทดสอบไคสแควร์สำหรับข้อมูลอิสระ
ทางเลือก: Fisher’s exact test — ตารางมีขนาดเล็กหรือความถี่คาดหวังไม่เพียงพอ
10 McNemar test
ใช้เมื่อ: ทดสอบการเปลี่ยนแปลงของผลลัพธ์สองทางจากข้อมูลที่จับคู่กัน เช่น ก่อน–หลังในคนเดิม
ตัวอย่างคำถาม: สัดส่วนผู้ตอบถูกก่อนและหลังอบรมเปลี่ยนไปหรือไม่
ตรวจ: ข้อมูลเป็นคู่ ผลลัพธ์มีสองทาง คู่แต่ละคู่เป็นอิสระจากคู่อื่น และเลือกสูตร exact เมื่อคู่ที่ให้ผลต่างกันมีจำนวนน้อย
ข้อควรระวัง: การทดสอบใช้ข้อมูลจากคู่ที่ผลเปลี่ยนไปเป็นหลัก จึงควรรายงานตาราง 2×2 ควบคู่กับผลทดสอบ
ทางเลือก: ไม่มีทางเลือกอัตโนมัติ; ปรับแบบจำลองตามข้อมูล
11 สถิติบรรยายและสหสัมพันธ์
ใช้เมื่อ: สรุปลักษณะของข้อมูลเชิงปริมาณ หรือวัดทิศทางและระดับความสัมพันธ์ระหว่างตัวแปรสองตัว
ตัวอย่างคำถาม: คะแนนมีการกระจายอย่างไร และเวลาอ่านหนังสือสัมพันธ์กับคะแนนหรือไม่
ตรวจ: เลือกค่ากลางและการกระจายให้เหมาะกับข้อมูล Pearson ใช้กับความสัมพันธ์เชิงเส้นและควรตรวจแผนภาพการกระจาย (scatterplot) ส่วน Spearman เหมาะกับข้อมูลอันดับหรือความสัมพันธ์ที่เพิ่มหรือลดไปในทิศทางเดียว (monotonic)
ข้อควรระวัง: ค่าสหสัมพันธ์ไม่ได้ยืนยันความเป็นเหตุเป็นผล และค่าเดียวกันอาจซ่อนรูปแบบข้อมูลที่ต่างกันมาก
ทางเลือก: Spearman’s rho — ข้อมูลเป็นอันดับ หรือความสัมพันธ์เพิ่มหรือลดไปในทิศทางเดียวแต่ไม่เป็นเส้นตรง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ตารางแจกแจงความถี่และตารางไขว้
ใช้เมื่อ: สรุปจำนวน ร้อยละ และการกระจายของตัวแปรเชิงกลุ่ม
ตัวอย่างคำถาม: ผู้เข้าร่วมกระจายตามเพศและชั้นปีอย่างไร
ตรวจ: กำหนดตัวหารของร้อยละและวิธีจัดการข้อมูลสูญหายให้ชัดเจน และแยกการบรรยายออกจากการทดสอบสมมติฐาน
ข้อควรระวัง: ตารางไขว้ช่วยให้เห็นรูปแบบเบื้องต้น แต่ยังสรุปไม่ได้ว่าตัวแปรสัมพันธ์กันอย่างมีนัยสำคัญ
ทางเลือก: ไม่มีทางเลือกอัตโนมัติ; ปรับแบบจำลองตามข้อมูล
13 การถดถอยเชิงเส้น
ใช้เมื่อ: ประมาณหรือพยากรณ์ค่าตัวแปรตามแบบต่อเนื่องจากตัวแปรอิสระหนึ่งตัวหรือหลายตัว
ตัวอย่างคำถาม: เวลาอ่านหนังสือและการเข้าเรียนช่วยพยากรณ์คะแนนสอบได้เพียงใด
ตรวจ: กำหนดรูปแบบความสัมพันธ์ระหว่างตัวแปรได้อย่างเหมาะสม เศษเหลือเป็นอิสระ มีความแปรปรวนคงที่ และไม่มีภาวะร่วมเส้นตรงหลายตัวแปร (multicollinearity) ที่รุนแรง ควรตรวจกราฟวินิจฉัยของแบบจำลองด้วย
ข้อควรระวัง: การแจกแจงปกติที่เกี่ยวข้องกับการอนุมานคือการแจกแจงของเศษเหลือ ไม่ใช่กำหนดให้ตัวแปรทุกตัวต้องแจกแจงปกติ
ทางเลือก: ไม่มีทางเลือกอัตโนมัติ; ปรับแบบจำลองตามข้อมูล
14 การถดถอยโลจิสติก
ใช้เมื่อ: ประมาณความน่าจะเป็นของผลลัพธ์สองทางจากตัวแปรอิสระหนึ่งตัวหรือหลายตัว
ตัวอย่างคำถาม: ปัจจัยใดสัมพันธ์กับโอกาสสอบผ่านของนักศึกษา
ตรวจ: ผลลัพธ์มีสองทาง หน่วยสังเกตเป็นอิสระ ตัวแปรต่อเนื่องสัมพันธ์เชิงเส้นกับลอจิต (logit) ไม่มีภาวะร่วมเส้นตรงหลายตัวแปรที่รุนแรง และมีจำนวนเหตุการณ์เพียงพอต่อความซับซ้อนของแบบจำลอง
ข้อควรระวัง: กฎ 10 เหตุการณ์ต่อตัวแปรเป็นเพียงแนวทางคร่าว ๆ ควรพิจารณาขนาดตัวอย่าง ความชุก ปัญหาการแยกข้อมูลอย่างสมบูรณ์หรือเกือบสมบูรณ์ (complete/quasi-complete separation) การปรับโทษความซับซ้อนของแบบจำลอง (regularization) และการตรวจสอบความเที่ยงตรงร่วมกัน
ทางเลือก: ไม่มีทางเลือกอัตโนมัติ; ปรับแบบจำลองตามข้อมูล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 Spearman เหมาะกับความสัมพันธ์ที่เพิ่มหรือลดไปในทิศทางเดียว ไม่ใช่ความสัมพันธ์ไม่เป็นเส้นตรงทุกแบบ
Mann–Whitney ไม่ได้เป็นการทดสอบมัธยฐานโดยอัตโนมัติ
Wilcoxon signed-rank ต้องการเงื่อนไขเรื่องความสมมาตรหากจะแปลผลในแง่มัธยฐาน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สาธิตว่าคำสั่ง independent t-test ใน Python ควรตั้งค่า equal_var=False หากตั้งใจใช้ Welch
Excel ไม่มี one-sample t-test และ repeated-measures ANOVA โดยตรง จึงไม่ควรใช้สูตรหรือเมนูอื่นแทนโดยอัตโนมัติ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เวลารวม 15 นาที
คำชี้แจงผู้สอน:
ใช้แผนผังตัดสินใจเลือกวิธีวิเคราะห์สำหรับกรณีตัวอย่าง 2 กรณี แล้วเขียนข้อตกลงเบื้องต้นที่ต้องตรวจ
ขั้นตอน:
1. ระบุเจตนา: บรรยาย เปรียบเทียบ สัมพันธ์ หรือพยากรณ์
2. ระบุชนิดตัวแปรและการจับคู่
3. เลือกสถิติเริ่มต้น
4. เขียนข้อตกลงเบื้องต้น 2 ข้อและข้อจำกัด 1 ข้อ
ถอดบทเรียน:
ยังขาดข้อมูลใด จึงยังตัดสินใจเลือกสถิติไม่ได้?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JBI Manual for Evidence Synthesis: https://jbi-global-wiki.refined.site/space/MANUAL
Cochrane Handbook — Searching and selecting studies: https://training.cochrane.org/handbook/current/chapter-04
Cochrane Handbook — Risk of bias: https://training.cochrane.org/handbook/current/chapter-08
Cochrane Handbook — Meta-analysis: https://training.cochrane.org/handbook/current/chapter-10
PRISMA 2020: https://www.prisma-statement.org/prisma-2020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PRISMA-S: https://doi.org/10.1186/s13643-020-01542-z
EQUATOR Reporting Guidelines: https://www.equator-network.org/reporting-guidelines/
UCLA OARC Statistical Test Guide: https://stats.oarc.ucla.edu/other/mult-pkg/whatstat/
R stats documentation: https://stat.ethz.ch/R-manual/R-devel/library/stats/html/00Index.html
SciPy statistical functions: https://docs.scipy.org/doc/scipy/reference/stats.html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ปิดด้วยบัตรสะท้อนผลก่อนจบ:
1. การตัดสินใจหนึ่งเรื่องที่ชัดขึ้น
2. งานหนึ่งชิ้นที่จะทำภายใน 7 วัน
3. คนหนึ่งคนที่จะขอข้อเสนอแนะ
กลับไปยังผลลัพธ์ที่เลือกในสไลด์ 3 และให้ผู้เรียนประเมินความมั่นใจอีกครั้ง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jbi-global-wiki.refined.site/space/MANUA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jbi-global-wiki.refined.site/space/MANUA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4" TargetMode="External"/><Relationship Id="rId2" Type="http://schemas.openxmlformats.org/officeDocument/2006/relationships/hyperlink" Target="https://www.prisma-statement.org/prisma-2020" TargetMode="External"/><Relationship Id="rId3" Type="http://schemas.openxmlformats.org/officeDocument/2006/relationships/hyperlink" Target="https://jbi-global-wiki.refined.site/space/MANUA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jbusres.2021.04.070" TargetMode="External"/><Relationship Id="rId2" Type="http://schemas.openxmlformats.org/officeDocument/2006/relationships/hyperlink" Target="https://doi.org/10.1111/j.1471-1842.2009.00848.x" TargetMode="External"/><Relationship Id="rId3" Type="http://schemas.openxmlformats.org/officeDocument/2006/relationships/hyperlink" Target="https://training.cochrane.org/handbook/current/chapter-v" TargetMode="External"/><Relationship Id="rId4" Type="http://schemas.openxmlformats.org/officeDocument/2006/relationships/hyperlink" Target="https://jbi-global-wiki.refined.site/space/MANUAL" TargetMode="External"/><Relationship Id="rId5" Type="http://schemas.openxmlformats.org/officeDocument/2006/relationships/hyperlink" Target="https://methods.cochrane.org/rapidreviews/cochrane-rr-methods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11/j.1471-1842.2009.00848.x" TargetMode="External"/><Relationship Id="rId2" Type="http://schemas.openxmlformats.org/officeDocument/2006/relationships/hyperlink" Target="https://jbi-global-wiki.refined.site/space/MANUA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quator-network.org/reporting-guidelin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quator-network.org/reporting-guidelin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quator-network.org/reporting-guidelin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jbi-global-wiki.refined.site/space/MANUAL" TargetMode="External"/><Relationship Id="rId2" Type="http://schemas.openxmlformats.org/officeDocument/2006/relationships/hyperlink" Target="https://training.cochrane.org/handbook/current/chapter-04" TargetMode="External"/><Relationship Id="rId3" Type="http://schemas.openxmlformats.org/officeDocument/2006/relationships/hyperlink" Target="https://www.prisma-statement.org/prisma-202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jbi-global-wiki.refined.site/space/MANUA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4" TargetMode="External"/><Relationship Id="rId2" Type="http://schemas.openxmlformats.org/officeDocument/2006/relationships/hyperlink" Target="https://doi.org/10.1186/s13643-020-01542-z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4" TargetMode="External"/><Relationship Id="rId2" Type="http://schemas.openxmlformats.org/officeDocument/2006/relationships/hyperlink" Target="https://doi.org/10.1186/s13643-020-01542-z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4" TargetMode="External"/><Relationship Id="rId2" Type="http://schemas.openxmlformats.org/officeDocument/2006/relationships/hyperlink" Target="https://www.prisma-statement.org/prisma-2020-flow-diagra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4" TargetMode="External"/><Relationship Id="rId2" Type="http://schemas.openxmlformats.org/officeDocument/2006/relationships/hyperlink" Target="https://www.prisma-statement.org/prisma-2020-flow-diagra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8" TargetMode="External"/><Relationship Id="rId2" Type="http://schemas.openxmlformats.org/officeDocument/2006/relationships/hyperlink" Target="https://jbi-global-wiki.refined.site/space/MANUA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8" TargetMode="External"/><Relationship Id="rId2" Type="http://schemas.openxmlformats.org/officeDocument/2006/relationships/hyperlink" Target="https://jbi-global-wiki.refined.site/space/MANUAL" TargetMode="External"/><Relationship Id="rId3" Type="http://schemas.openxmlformats.org/officeDocument/2006/relationships/hyperlink" Target="https://www.equator-network.org/reporting-guidelines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8" TargetMode="External"/><Relationship Id="rId2" Type="http://schemas.openxmlformats.org/officeDocument/2006/relationships/hyperlink" Target="https://jbi-global-wiki.refined.site/space/MANUAL" TargetMode="External"/><Relationship Id="rId3" Type="http://schemas.openxmlformats.org/officeDocument/2006/relationships/hyperlink" Target="https://www.equator-network.org/reporting-guidelines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0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training.cochrane.org/handbook/current/chapter-10" TargetMode="External"/><Relationship Id="rId2" Type="http://schemas.openxmlformats.org/officeDocument/2006/relationships/hyperlink" Target="https://doi.org/10.1186/1471-2288-8-45" TargetMode="External"/><Relationship Id="rId3" Type="http://schemas.openxmlformats.org/officeDocument/2006/relationships/hyperlink" Target="https://emergeproject.org/" TargetMode="External"/><Relationship Id="rId4" Type="http://schemas.openxmlformats.org/officeDocument/2006/relationships/hyperlink" Target="https://www.ramesesproject.org/Standards_and_Training_materials.php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risma-statement.org/prisma-2020" TargetMode="External"/><Relationship Id="rId2" Type="http://schemas.openxmlformats.org/officeDocument/2006/relationships/hyperlink" Target="https://doi.org/10.1186/s13643-020-01542-z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risma-statement.org/prisma-20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hyperlink" Target="https://stats.oarc.ucla.edu/other/mult-pkg/whatstat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hyperlink" Target="https://stats.oarc.ucla.edu/other/mult-pkg/whatstat/" TargetMode="External"/><Relationship Id="rId2" Type="http://schemas.openxmlformats.org/officeDocument/2006/relationships/hyperlink" Target="https://stat.ethz.ch/R-manual/R-devel/library/stats/html/00Index.html" TargetMode="External"/><Relationship Id="rId3" Type="http://schemas.openxmlformats.org/officeDocument/2006/relationships/hyperlink" Target="https://docs.scipy.org/doc/scipy/reference/stats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hyperlink" Target="https://stats.oarc.ucla.edu/other/mult-pkg/whatstat/" TargetMode="External"/><Relationship Id="rId2" Type="http://schemas.openxmlformats.org/officeDocument/2006/relationships/hyperlink" Target="https://stat.ethz.ch/R-manual/R-devel/library/stats/html/00Index.html" TargetMode="External"/><Relationship Id="rId3" Type="http://schemas.openxmlformats.org/officeDocument/2006/relationships/hyperlink" Target="https://docs.scipy.org/doc/scipy/reference/stats.html" TargetMode="External"/><Relationship Id="rId4" Type="http://schemas.openxmlformats.org/officeDocument/2006/relationships/hyperlink" Target="https://doi.org/10.5334/irsp.82" TargetMode="External"/><Relationship Id="rId5" Type="http://schemas.openxmlformats.org/officeDocument/2006/relationships/hyperlink" Target="https://online.stat.psu.edu/stat500/Lesson10.html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hyperlink" Target="https://online.stat.psu.edu/stat500/Lesson10.html" TargetMode="External"/><Relationship Id="rId2" Type="http://schemas.openxmlformats.org/officeDocument/2006/relationships/hyperlink" Target="https://stat.ethz.ch/R-manual/R-devel/library/stats/html/00Index.html" TargetMode="External"/><Relationship Id="rId3" Type="http://schemas.openxmlformats.org/officeDocument/2006/relationships/hyperlink" Target="https://stats.oarc.ucla.edu/other/mult-pkg/whatstat/" TargetMode="External"/><Relationship Id="rId4" Type="http://schemas.openxmlformats.org/officeDocument/2006/relationships/hyperlink" Target="https://docs.scipy.org/doc/scipy/reference/stats.html" TargetMode="External"/><Relationship Id="rId5" Type="http://schemas.openxmlformats.org/officeDocument/2006/relationships/hyperlink" Target="https://doi.org/10.2307/3001616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2307/3001616" TargetMode="External"/><Relationship Id="rId2" Type="http://schemas.openxmlformats.org/officeDocument/2006/relationships/hyperlink" Target="https://stats.oarc.ucla.edu/other/mult-pkg/whatstat/" TargetMode="External"/><Relationship Id="rId3" Type="http://schemas.openxmlformats.org/officeDocument/2006/relationships/hyperlink" Target="https://stat.ethz.ch/R-manual/R-devel/library/stats/html/00Index.html" TargetMode="External"/><Relationship Id="rId4" Type="http://schemas.openxmlformats.org/officeDocument/2006/relationships/hyperlink" Target="https://docs.scipy.org/doc/scipy/reference/stats.html" TargetMode="External"/><Relationship Id="rId5" Type="http://schemas.openxmlformats.org/officeDocument/2006/relationships/hyperlink" Target="https://online.stat.psu.edu/stat500/Lesson09.html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hyperlink" Target="https://stats.oarc.ucla.edu/other/mult-pkg/whatstat/" TargetMode="External"/><Relationship Id="rId2" Type="http://schemas.openxmlformats.org/officeDocument/2006/relationships/hyperlink" Target="https://stat.ethz.ch/R-manual/R-devel/library/stats/html/00Index.html" TargetMode="External"/><Relationship Id="rId3" Type="http://schemas.openxmlformats.org/officeDocument/2006/relationships/hyperlink" Target="https://online.stat.psu.edu/stat500/Lesson09.html" TargetMode="External"/><Relationship Id="rId4" Type="http://schemas.openxmlformats.org/officeDocument/2006/relationships/hyperlink" Target="https://doi.org/10.1093/aje/kwk05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5334/irsp.82" TargetMode="External"/><Relationship Id="rId2" Type="http://schemas.openxmlformats.org/officeDocument/2006/relationships/hyperlink" Target="https://doi.org/10.2307/3001616" TargetMode="External"/><Relationship Id="rId3" Type="http://schemas.openxmlformats.org/officeDocument/2006/relationships/hyperlink" Target="https://doi.org/10.1093/aje/kwk05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hyperlink" Target="https://stat.ethz.ch/R-manual/R-devel/library/stats/html/00Index.html" TargetMode="External"/><Relationship Id="rId2" Type="http://schemas.openxmlformats.org/officeDocument/2006/relationships/hyperlink" Target="https://docs.scipy.org/doc/scipy/reference/stats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hyperlink" Target="https://jbi-global-wiki.refined.site/space/MANUAL" TargetMode="External"/><Relationship Id="rId2" Type="http://schemas.openxmlformats.org/officeDocument/2006/relationships/hyperlink" Target="https://training.cochrane.org/handbook/current/chapter-04" TargetMode="External"/><Relationship Id="rId3" Type="http://schemas.openxmlformats.org/officeDocument/2006/relationships/hyperlink" Target="https://training.cochrane.org/handbook/current/chapter-08" TargetMode="External"/><Relationship Id="rId4" Type="http://schemas.openxmlformats.org/officeDocument/2006/relationships/hyperlink" Target="https://training.cochrane.org/handbook/current/chapter-10" TargetMode="External"/><Relationship Id="rId5" Type="http://schemas.openxmlformats.org/officeDocument/2006/relationships/hyperlink" Target="https://www.prisma-statement.org/prisma-2020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643-020-01542-z" TargetMode="External"/><Relationship Id="rId2" Type="http://schemas.openxmlformats.org/officeDocument/2006/relationships/hyperlink" Target="https://www.equator-network.org/reporting-guidelines/" TargetMode="External"/><Relationship Id="rId3" Type="http://schemas.openxmlformats.org/officeDocument/2006/relationships/hyperlink" Target="https://stats.oarc.ucla.edu/other/mult-pkg/whatstat/" TargetMode="External"/><Relationship Id="rId4" Type="http://schemas.openxmlformats.org/officeDocument/2006/relationships/hyperlink" Target="https://stat.ethz.ch/R-manual/R-devel/library/stats/html/00Index.html" TargetMode="External"/><Relationship Id="rId5" Type="http://schemas.openxmlformats.org/officeDocument/2006/relationships/hyperlink" Target="https://docs.scipy.org/doc/scipy/reference/stats.html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hyperlink" Target="https://anusornc.github.io/lit-review-guide/?lang=th" TargetMode="External"/><Relationship Id="rId2" Type="http://schemas.openxmlformats.org/officeDocument/2006/relationships/hyperlink" Target="https://anusornc.github.io/lit-review-guide/?lang=th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ปริญญาโท · ปริญญาเอก · นักวิจัย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40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223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ออกแบบการทบทวน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วรรณกรรมให้ตัดสินใจได้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0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เวิร์กชอปการทบทวนวรรณกรรมสำหรับนักวิจัย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4937760" cy="310896"/>
          </a:xfrm>
          <a:prstGeom prst="roundRect">
            <a:avLst>
              <a:gd name="adj" fmla="val 23529"/>
            </a:avLst>
          </a:prstGeom>
          <a:solidFill>
            <a:srgbClr val="4A3421"/>
          </a:solidFill>
          <a:ln w="12700">
            <a:solidFill>
              <a:srgbClr val="4A34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517136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สำหรับนักศึกษาปริญญาโท · ปริญญาเอก · นักวิจัย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321040" y="914400"/>
            <a:ext cx="1143000" cy="1143000"/>
          </a:xfrm>
          <a:prstGeom prst="ellipse">
            <a:avLst/>
          </a:prstGeom>
          <a:solidFill>
            <a:srgbClr val="0F6B63"/>
          </a:solidFill>
          <a:ln w="12700">
            <a:solidFill>
              <a:srgbClr val="FBFAF5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3761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89720" y="1280160"/>
            <a:ext cx="-182880" cy="-182880"/>
          </a:xfrm>
          <a:prstGeom prst="line">
            <a:avLst/>
          </a:prstGeom>
          <a:noFill/>
          <a:ln w="25400">
            <a:solidFill>
              <a:srgbClr val="5570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0" y="1600200"/>
            <a:ext cx="960120" cy="9601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FBFAF5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0" y="19705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2423160"/>
            <a:ext cx="-182880" cy="-182880"/>
          </a:xfrm>
          <a:prstGeom prst="line">
            <a:avLst/>
          </a:prstGeom>
          <a:noFill/>
          <a:ln w="25400">
            <a:solidFill>
              <a:srgbClr val="557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743200"/>
            <a:ext cx="914400" cy="914400"/>
          </a:xfrm>
          <a:prstGeom prst="ellipse">
            <a:avLst/>
          </a:prstGeom>
          <a:solidFill>
            <a:srgbClr val="2E7D62"/>
          </a:solidFill>
          <a:ln w="12700">
            <a:solidFill>
              <a:srgbClr val="FBFAF5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0906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64040" y="3017520"/>
            <a:ext cx="-182880" cy="-182880"/>
          </a:xfrm>
          <a:prstGeom prst="line">
            <a:avLst/>
          </a:prstGeom>
          <a:noFill/>
          <a:ln w="25400">
            <a:solidFill>
              <a:srgbClr val="5570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3337560"/>
            <a:ext cx="1280160" cy="1280160"/>
          </a:xfrm>
          <a:prstGeom prst="ellipse">
            <a:avLst/>
          </a:prstGeom>
          <a:solidFill>
            <a:srgbClr val="0F6B63"/>
          </a:solidFill>
          <a:ln w="12700">
            <a:solidFill>
              <a:srgbClr val="FBFAF5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38679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4297680"/>
            <a:ext cx="-182880" cy="-182880"/>
          </a:xfrm>
          <a:prstGeom prst="line">
            <a:avLst/>
          </a:prstGeom>
          <a:noFill/>
          <a:ln w="25400">
            <a:solidFill>
              <a:srgbClr val="557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461772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FBFAF5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521665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สังเคราะห์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621792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litwise.guide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เริ่มต้น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เส้นทางเรียนรู้: จากคำถามสู่ข้อสรุปที่ตรวจสอบได้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 → เลือกวิธี → ดูบริบทสาขา → ลงมือทำ → ใช้เครื่องมือ → ตรวจคุณภาพ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76072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0664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เริ่มจากโจทย์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64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ระบุว่าต้องการทำแผนที่ ประเมินผล เข้าใจประสบการณ์ หรืออธิบายความซับซ้อน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30780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5372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95372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95372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ใช้เป้าหมาย ประเภทหลักฐาน สาขา และข้อจำกัดเพื่อหาวิธีเริ่มต้น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85488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0080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50080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เช็กบริบท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50080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ตรวจฐานข้อมูล มาตรฐาน และธรรมเนียมของแต่ละสาขา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40196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4788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04788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ลงมือทำทีละขั้น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4788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กำหนดขอบเขต → ค้น → คัดกรอง → ประเมิน → สกัดข้อมูล → เขียน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94904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9496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159496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ใช้เครื่องมือ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159496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สร้างคำถาม ฝึกคัดกรอง วาง PRISMA และจัดการงาน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849612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4204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014204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ตรวจคุณภาพ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014204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ทบทวนข้อผิดพลาด แหล่งอ้างอิง และขอบเขตของข้อสรุป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เริ่มต้น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เมื่อจบเวิร์กชอป ผู้เรียนควรทำได้ 6 เรื่อง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เน้นการตัดสินใจที่ตรวจสอบได้ มากกว่าจำชื่อวิธีหรือชื่อโปรแกรม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ตั้งคำถาม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เปลี่ยนหัวข้อกว้างให้เป็นคำถามที่ทบทวนได้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อธิบายเหตุผลที่เลือกวิธีทบทวนและข้อแลกเปลี่ยน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ออกแบบการค้น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วางแนวคิด คำค้น ฐานข้อมูล และบันทึกการค้น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คัดกรองและประเมิน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ใช้เกณฑ์อย่างสม่ำเสมอและเลือกเครื่องมือประเมินให้ตรงกับแบบแผนการศึกษา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สังเคราะห์ให้เหมาะกับข้อมูล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เลือกวิธีสังเคราะห์ให้สอดคล้องกับคำถามและข้อมูล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58912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รายงานอย่างโปร่งใส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1792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ตรวจย้อนกลับได้ ใช้ PRISMA/มาตรฐานเฉพาะวิธี และไม่สรุปเกินหลักฐาน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เริ่มต้น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โครงสร้างแบบโมดูล: สอนได้ทั้งครึ่งวันและเต็มวัน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เวอร์ชันเต็มประมาณ 5.5–6 ชั่วโมง ไม่รวมช่วงพัก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2672334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1794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· ตั้งต้น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230657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 เป้าหมาย หลักฐาน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 นาที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0702" y="1755648"/>
            <a:ext cx="2672334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0702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529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43934" y="1874520"/>
            <a:ext cx="1794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· เลือกวิธี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13582" y="2322576"/>
            <a:ext cx="230657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วิธีและข้อแลกเปลี่ยน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 นาที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67628" y="1755648"/>
            <a:ext cx="2672334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7628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80860" y="1874520"/>
            <a:ext cx="1794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· สาขาวิชา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0508" y="2322576"/>
            <a:ext cx="230657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ฐานข้อมูลและมาตรฐาน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นาที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04554" y="1755648"/>
            <a:ext cx="2672334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455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914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17786" y="1874520"/>
            <a:ext cx="1794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· ขั้นตอนทำงาน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87434" y="2322576"/>
            <a:ext cx="230657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ระยะพร้อมกิจกรรม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 นาที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" y="4160520"/>
            <a:ext cx="2672334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279392"/>
            <a:ext cx="1794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· เครื่องมือและ AI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656" y="4727448"/>
            <a:ext cx="230657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 พรอมต์ และข้อกำกับ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 นาที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30702" y="4160520"/>
            <a:ext cx="2672334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0702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5294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43934" y="4279392"/>
            <a:ext cx="1794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· แผนลงมือทำ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13582" y="4727448"/>
            <a:ext cx="230657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รายการตรวจสอบและแผน 30 วัน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นาที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67628" y="4160520"/>
            <a:ext cx="2672334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7628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2220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80860" y="4279392"/>
            <a:ext cx="1794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ภาคเสริม · สถิติ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50508" y="4727448"/>
            <a:ext cx="230657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แผนผังตัดสินใจ 14 เทคนิค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 นาที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เริ่มต้น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เช็กจุดเริ่มต้นของผู้เรียน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กิจกรรมเวิร์กชอป · 8 นาที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58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406908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783080"/>
            <a:ext cx="64008" cy="192024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01952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23160" y="2350008"/>
            <a:ext cx="3703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เขียนหัวข้อวิจัยปัจจุบัน 1 ประโยค แล้ววงขั้นที่ยังไม่มั่นใจที่สุด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0528" y="1783080"/>
            <a:ext cx="507492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78308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90195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93408" y="2350008"/>
            <a:ext cx="4709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เขียนหัวข้อหรือปัญหาที่กำลังศึกษา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เลือกจุดติดขัด: คำถาม / วิธี / ค้น / คัดกรอง / สังเคราะห์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จับคู่เล่าให้เพื่อนฟังคนละ 60 วินาที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3913632"/>
            <a:ext cx="406908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40280" y="3913632"/>
            <a:ext cx="64008" cy="160020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032504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ชิ้นงานที่ต้องได้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80560"/>
            <a:ext cx="3703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1 ประโยค + จุดติดขัดหลัก 1 จุด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10528" y="3913632"/>
            <a:ext cx="507492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913632"/>
            <a:ext cx="64008" cy="160020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03250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คำถามสำหรับถอดบทเรียน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93408" y="4480560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ปัญหาของเราเกิดจากข้อมูลไม่พอ หรือเกิดจากยังไม่ตัดสินใจให้ชัด?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01000" y="731520"/>
            <a:ext cx="3154680" cy="3154680"/>
          </a:xfrm>
          <a:prstGeom prst="ellipse">
            <a:avLst/>
          </a:prstGeom>
          <a:solidFill>
            <a:srgbClr val="0F6B63">
              <a:alpha val="90000"/>
            </a:srgbClr>
          </a:solidFill>
          <a:ln w="25400">
            <a:solidFill>
              <a:srgbClr val="E0ECE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3768" y="3401568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7032" y="12984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6766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ตั้งต้นให้ถูก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7D5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เริ่มจากการตัดสินใจที่งานทบทวนต้องสนับสนุน แล้วจึงเลือกกรอบคำถามและขอบเขต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434340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4A3421"/>
          </a:solidFill>
          <a:ln w="12700">
            <a:solidFill>
              <a:srgbClr val="4A34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3799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45–55 นาที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การทบทวนวรรณกรรมไม่ใช่การสะสมบทความ แต่คือการออกแบบข้อสรุป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คุณภาพเกิดจากความสอดคล้องระหว่างคำถาม วิธีค้น วิธีคัดเลือก การประเมิน และการสังเคราะห์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645152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645152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ข้อมูลนำเข้า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หลักฐานที่มีขอบเขตและที่มาชัดเจน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645152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645152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กระบวนการตัดสินใจ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เกณฑ์และเหตุผลที่ผู้อื่นตรวจสอบหรือทำตามได้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645152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645152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ข้อสรุปที่บอกทั้งสิ่งที่รู้ สิ่งที่ยังไม่รู้ และระดับความมั่นใจ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คำถามแรก: งานทบทวนนี้ต้องช่วยให้ตัดสินใจเรื่องใด?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เป้าหมายคือหลักยึดในการตัดสินใจ—ข้อมูลอื่นไม่ควรทำให้เจตนาหลักของงานเปลี่ยนไป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ทำแผนที่องค์ความรู้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มองเห็นขนาด แนวคิด ช่องว่าง และขอบเขตของประเด็นที่ยังกว้าง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ประเมินผลหรือความสัมพันธ์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ตอบคำถามเฉพาะเกี่ยวกับผลกระทบ ความสัมพันธ์ หรือประสิทธิผล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3776" y="4160520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27939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เข้าใจประสบการณ์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" y="4727448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สังเคราะห์ความหมาย มุมมอง กลไก หรือประสบการณ์ของผู้คน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67628" y="4160520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427939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อธิบายความซับซ้อน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0508" y="4727448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ค้นหาว่าอะไรได้ผล กับใคร ในบริบทใด และเพราะเหตุใด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คำถามที่สอง: หลักฐานที่คาดว่าจะพบมีลักษณะใด?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ถ้ายังไม่แน่ใจ ให้ค้นเพื่อสำรวจภาพรวมก่อนตัดสินใจเลือกวิธี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เน้นข้อมูลเชิงปริมาณ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การทดลอง แบบสำรวจ การวัดผล หรือผลลัพธ์เชิงตัวเลขที่เปรียบเทียบกันได้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เน้นข้อมูลเชิงคุณภาพ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การสัมภาษณ์ การสังเกต ตัวบท กรณีศึกษา หรือคำอธิบายเชิงตีความ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ผสมผสานหรือหลากหลาย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งานวิจัยหลายประเภทที่ต้องนำมาพิจารณาร่วมกันเพื่อสร้างคำอธิบาย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แนวคิดหรือเอกสาร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ทฤษฎี ข้อโต้แย้ง เอกสาร คำพิพากษา หรือหลักฐานทางประวัติศาสตร์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ยังไม่แน่ใจ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เริ่มค้นอย่างกว้างเพื่อดูว่ามีหลักฐานประเภทใดอยู่บ้าง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คำถามที่สาม: งานนี้ต้องไปไกลแค่ไหน?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 ทีม และมาตรฐานการตีพิมพ์เปลี่ยนวิธีทำงาน แต่ไม่ควรถูกซ่อนไว้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645152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645152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ต้องการผลการทบทวนเพื่อประกอบการตัดสินใจอย่างเร่งด่วน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ลดขั้นตอนบางส่วนอย่างโปร่งใส เพื่อให้ได้คำตอบที่นำไปใช้ได้ภายในไม่กี่สัปดาห์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645152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645152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บททบทวนสำหรับวิทยานิพนธ์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ค้นอย่างเป็นระบบและสังเคราะห์อย่างมีเหตุผล โดยเรียกชื่อวิธีให้ตรงกับสิ่งที่ทำจริง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645152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645152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งานสังเคราะห์เพื่อการตีพิมพ์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วางโครงร่างล่วงหน้า มีผู้ทบทวนเป็นทีม ค้นอย่างครอบคลุม ประเมินคุณภาพ และรายงานตามมาตรฐาน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เลือกกรอบคำถามให้ตรงกับสิ่งที่อยากรู้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กรอบคำถามช่วยจัดองค์ประกอบ แต่ไม่ได้แทนดุลยพินิจของแต่ละสาขา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คำถามที่ต้องการเปรียบเทียบผลหรือประสิทธิภาพอย่างเจาะจง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กลุ่มเป้าหมายหรือปัญหา · วิธี โปรแกรม หรือนวัตกรรมที่สนใจ · สิ่งที่นำมาเปรียบเทียบ · ผลที่ต้องการดู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คำถามว่าคนกลุ่มหนึ่งเผชิญอะไรและรับรู้ผลอย่างไร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กลุ่มเป้าหมาย · ปัจจัยหรือประสบการณ์ที่สนใจ · ประสบการณ์หรือผลที่รับรู้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SPIDER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คำถามที่ต้องการเจาะลึกหลักฐานเชิงคุณภาพหรือแบบผสม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กลุ่มตัวอย่าง · ประเด็นหรือประสบการณ์ที่ต้องการศึกษา · รูปแบบการศึกษา · สิ่งที่ผู้เข้าร่วมสะท้อน · ประเภทงานวิจัย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" y="399592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11480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56285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คำถามที่ใช้เปรียบเทียบบริการ นโยบาย หรือแนวทางปฏิบัติ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บริบทหรือสถานที่ · มุมมองของใคร · บริการ นโยบาย หรือทางเลือกที่สนใจ · ทางเลือกที่นำมาเปรียบเทียบ · เกณฑ์ที่ใช้พิจารณา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6344" y="399592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11480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PCC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56285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คำถามกว้างสำหรับสำรวจขอบเขตงานวิจัยที่มีอยู่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กลุ่มเป้าหมายหรือผู้เกี่ยวข้อง · แนวคิดที่ต้องการสำรวจ · บริบท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จากหัวข้อกว้าง → คำถามที่ทบทวนได้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กิจกรรมเวิร์กชอป · 15 นาที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58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406908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783080"/>
            <a:ext cx="64008" cy="192024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01952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23160" y="2350008"/>
            <a:ext cx="3703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PICO, PEO, SPIDER, SPICE หรือ PCC แล้วเขียนคำถามฉบับร่างจากหัวข้อของตนเอง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0528" y="1783080"/>
            <a:ext cx="507492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78308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90195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93408" y="2350008"/>
            <a:ext cx="4709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ระบุการตัดสินใจที่คำถามต้องช่วย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เลือกกรอบที่ตรงกับเจตนา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กรอกองค์ประกอบเท่าที่รู้และทำเครื่องหมายจุดที่ยังไม่ชัด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อ่านคำถามออกเสียงให้คู่ฟัง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3913632"/>
            <a:ext cx="406908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40280" y="3913632"/>
            <a:ext cx="64008" cy="160020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032504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ชิ้นงานที่ต้องได้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80560"/>
            <a:ext cx="3703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คำถามฉบับร่าง 1 ข้อ + องค์ประกอบที่ต้องหาข้อมูลเพิ่ม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10528" y="3913632"/>
            <a:ext cx="507492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913632"/>
            <a:ext cx="64008" cy="160020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03250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คำถามสำหรับถอดบทเรียน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93408" y="4480560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คำใดทำให้ขอบเขตกว้างเกินไป? คำใดทำให้พลาดบริบทสำคัญ?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เปลี่ยน ‘AI กับการเรียน’ เป็นคำถามสำหรับทบทวนวรรณกรรม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อย่ากระโดดไปหาคำค้นก่อนรู้ว่าจะตอบอะไร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246120" cy="34290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828800"/>
            <a:ext cx="64008" cy="342900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4767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หัวข้อเดิม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2395728"/>
            <a:ext cx="288036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กับการเรียนของนักศึกษามหาวิทยาลัย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ปัญหา: ยังไม่รู้ว่าศึกษาใคร AI แบบใด เปรียบเทียบกับอะไร และวัดผลอะไร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005072" y="3044952"/>
            <a:ext cx="658368" cy="685800"/>
          </a:xfrm>
          <a:prstGeom prst="chevron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828800"/>
            <a:ext cx="6748272" cy="34290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828800"/>
            <a:ext cx="64008" cy="342900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9476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คำถามแบบ PICO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2395728"/>
            <a:ext cx="6382512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ในนักศึกษาปริญญาตรี (P) การใช้ระบบ AI ช่วยสอนที่ให้ feedback รายบุคคล (I) เมื่อเทียบกับการสอนปกติ (C) ส่งผลต่อผลสัมฤทธิ์ทางการเรียนและการมีส่วนร่วม (O) อย่างไร?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ผลที่ได้: สามารถกำหนดเกณฑ์คัดเลือก ประเภทการศึกษา และตัวชี้วัดได้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01000" y="731520"/>
            <a:ext cx="3154680" cy="3154680"/>
          </a:xfrm>
          <a:prstGeom prst="ellipse">
            <a:avLst/>
          </a:prstGeom>
          <a:solidFill>
            <a:srgbClr val="0F6B63">
              <a:alpha val="90000"/>
            </a:srgbClr>
          </a:solidFill>
          <a:ln w="25400">
            <a:solidFill>
              <a:srgbClr val="E0ECE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3768" y="3401568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7032" y="12984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6766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เลือกวิธีทบทวน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7D5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รู้จักภูมิทัศน์ 14 วิธี แล้วเลือกจากเจตนา ชนิดหลักฐาน ความพร้อมของทีม และผลผลิตที่ต้องการ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434340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4A3421"/>
          </a:solidFill>
          <a:ln w="12700">
            <a:solidFill>
              <a:srgbClr val="4A34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3799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55–65 นาที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ภูมิทัศน์ 14 วิธีทบทวน · 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ชื่อวิธีควรสะท้อนสิ่งที่ทำจริง ไม่ใช่ใช้เพื่อทำให้งานดูเข้มข้นขึ้น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95554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การทบทวนวรรณกรรมอย่างเป็นระบบ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 ประเมิน และสังเคราะห์หลักฐานตามขั้นตอนที่ทำซ้ำได้ เพื่อตอบคำถามที่มีขอบเขตชัดเจน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6–18 เดือน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95554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การทบทวนวรรณกรรมแบบกำหนดขอบเขต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ทำแผนที่แนวคิด ประเภทหลักฐาน กิจกรรมวิจัย และช่องว่างในสาขาที่มีขอบเขตกว้าง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4–12 เดือน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" y="287578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2875788"/>
            <a:ext cx="64008" cy="95554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038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299466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การวิเคราะห์อภิมาน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" y="344271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รวมค่าประมาณผลจากหลายการศึกษาที่เข้ากันได้ด้วยวิธีทางสถิติ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มักเป็นส่วนหนึ่งของการทบทวนวรรณกรรมอย่างเป็นระบบ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7628" y="287578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2875788"/>
            <a:ext cx="64008" cy="95554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30038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299466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การสังเคราะห์หลักฐานเชิงคุณภาพ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0508" y="344271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นำข้อค้นพบเชิงคุณภาพมาสังเคราะห์ร่วมกัน เพื่อสร้างประเด็น คำอธิบาย หรือการตีความใหม่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6–15 เดือน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3776" y="399592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" y="3995928"/>
            <a:ext cx="64008" cy="95554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การทบทวนเชิงสัจนิยม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6656" y="456285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อธิบายว่าบริบทกระตุ้นกลไกอย่างไร จึงทำให้เกิดผลลัพธ์ที่แตกต่างกัน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8–18 เดือน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67628" y="399592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7628" y="3995928"/>
            <a:ext cx="64008" cy="95554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2220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0860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การทบทวนวรรณกรรมเชิงบูรณาการ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50508" y="456285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รวมวรรณกรรมเชิงประจักษ์และเชิงทฤษฎี เพื่อปรับกรอบความคิดหรือสร้างกรอบใหม่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4–12 เดือน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3776" y="511606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" y="5116068"/>
            <a:ext cx="64008" cy="95554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52440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23494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การทบทวนวรรณกรรมแบบผสมผสานวิธี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76656" y="568299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รวมหลักฐานเชิงปริมาณและเชิงคุณภาพไว้ในแผนการสังเคราะห์เดียวกัน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9–20 เดือน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PRISMA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ภูมิทัศน์ 14 วิธีทบทวน · B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ชื่อวิธีควรสะท้อนสิ่งที่ทำจริง ไม่ใช่ใช้เพื่อทำให้งานดูเข้มข้นขึ้น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95554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การวิเคราะห์บรรณมิติ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ใช้ข้อมูลเมตาของสิ่งพิมพ์เพื่อวิเคราะห์การเติบโต อิทธิพล ความร่วมมือ และกลุ่มแนวคิด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3–9 เดือน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95554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การทบทวนเชิงวิพากษ์หรือเชิงบรรยาย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พัฒนาข้อโต้แย้งโดยวางองค์ความรู้หรือข้อถกเถียงไว้ในบริบททางประวัติศาสตร์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แตกต่างตามขนาดและความลึกของคลังข้อมูล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" y="287578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2875788"/>
            <a:ext cx="64008" cy="95554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038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299466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การทบทวนงานทบทวนอย่างเป็นระบบ (umbrella review)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" y="344271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สังเคราะห์ผลจากงานทบทวนวรรณกรรมอย่างเป็นระบบที่มีอยู่ โดยไม่ย้อนกลับไปวิเคราะห์งานวิจัยปฐมภูมิทุกชิ้น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6–12 เดือน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7628" y="287578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2875788"/>
            <a:ext cx="64008" cy="95554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30038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299466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การทบทวนแบบเร่งรัด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0508" y="344271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ลดขอบเขตหรือขั้นตอนบางส่วนตามแผนที่กำหนดไว้ เมื่อต้องใช้หลักฐานประกอบการตัดสินใจอย่างเร่งด่วน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2–12 สัปดาห์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3776" y="399592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" y="3995928"/>
            <a:ext cx="64008" cy="95554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การค้นและทบทวนวรรณกรรมอย่างเป็นระบบ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6656" y="456285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ค้นอย่างโปร่งใสและให้ผู้อื่นค้นตามได้ แล้วสังเคราะห์ในระดับที่เหมาะกับวิทยานิพนธ์หรือข้อเสนอโครงการ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2–6 เดือน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67628" y="399592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7628" y="3995928"/>
            <a:ext cx="64008" cy="95554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2220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0860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การสังเคราะห์แบบเมตาชาติพันธุ์วรรณนา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50508" y="456285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นำแนวคิดจากงานวิจัยเชิงคุณภาพหลายชิ้นมาเทียบเคียงและตีความร่วมกัน เพื่อพัฒนาคำอธิบายหรือทฤษฎีใหม่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6–15 เดือน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3776" y="5116068"/>
            <a:ext cx="5509260" cy="95554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" y="5116068"/>
            <a:ext cx="64008" cy="95554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52440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23494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การสังเคราะห์เชิงประเด็น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76656" y="5682996"/>
            <a:ext cx="51435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เริ่มจากเข้ารหัสข้อค้นพบเชิงคุณภาพทีละบรรทัด แล้วพัฒนาเป็นประเด็นเชิงพรรณนาและประเด็นเชิงวิเคราะห์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เวลา: โดยมาก 4–10 เดือน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JBR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HILJ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 Rapid Reviews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เส้นทางเลือกวิธี: ตอบ 5 คำถามก่อนเลือกชื่อวิธีทบทวน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ผลลัพธ์คือวิธีเริ่มต้น + ทางเลือก + ข้อแลกเปลี่ยน ไม่ใช่คำตอบอัตโนมัติ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76072" y="1965960"/>
            <a:ext cx="2115922" cy="3291840"/>
          </a:xfrm>
          <a:prstGeom prst="roundRect">
            <a:avLst>
              <a:gd name="adj" fmla="val 3457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48840"/>
            <a:ext cx="17867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0664" y="2660904"/>
            <a:ext cx="17867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64" y="3429000"/>
            <a:ext cx="1786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ทำแผนที่ / ประเมิน / ทำความเข้าใจ / อธิบาย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01722" y="1965960"/>
            <a:ext cx="2115922" cy="3291840"/>
          </a:xfrm>
          <a:prstGeom prst="roundRect">
            <a:avLst>
              <a:gd name="adj" fmla="val 3457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6314" y="2148840"/>
            <a:ext cx="17867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966314" y="2660904"/>
            <a:ext cx="17867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สาขา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66314" y="3429000"/>
            <a:ext cx="1786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ธรรมเนียม แหล่งข้อมูล และมาตรฐาน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7371" y="1965960"/>
            <a:ext cx="2115922" cy="3291840"/>
          </a:xfrm>
          <a:prstGeom prst="roundRect">
            <a:avLst>
              <a:gd name="adj" fmla="val 3457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1963" y="2148840"/>
            <a:ext cx="17867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91963" y="2660904"/>
            <a:ext cx="17867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91963" y="3429000"/>
            <a:ext cx="1786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ปริมาณ คุณภาพ ผสม เอกสาร หรือยังไม่แน่ใจ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53021" y="1965960"/>
            <a:ext cx="2115922" cy="3291840"/>
          </a:xfrm>
          <a:prstGeom prst="roundRect">
            <a:avLst>
              <a:gd name="adj" fmla="val 3457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7613" y="2148840"/>
            <a:ext cx="17867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417613" y="2660904"/>
            <a:ext cx="17867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ความพร้อม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17613" y="3429000"/>
            <a:ext cx="1786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เร่งด่วน วิทยานิพนธ์ หรือมุ่งตีพิมพ์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478670" y="1965960"/>
            <a:ext cx="2115922" cy="3291840"/>
          </a:xfrm>
          <a:prstGeom prst="roundRect">
            <a:avLst>
              <a:gd name="adj" fmla="val 3457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3262" y="2148840"/>
            <a:ext cx="17867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643262" y="2660904"/>
            <a:ext cx="17867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ตรวจความเหมาะสม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43262" y="3429000"/>
            <a:ext cx="178673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ผลผลิต ระยะเวลา สิ่งที่วิธีตอบได้ และสิ่งที่ตอบไม่ได้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จับคู่จาก ‘เจตนา’ ก่อน แล้วค่อยตรวจรายละเอียด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หนึ่งโจทย์อาจมีหลายวิธีที่สมเหตุสมผล—ความแตกต่างอยู่ที่สิ่งที่ต้องการสรุป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ทำแผนที่องค์ความรู้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การทบทวนวรรณกรรมแบบกำหนดขอบเขต · การวิเคราะห์บรรณมิติ · การค้นและทบทวนวรรณกรรมอย่างเป็นระบบ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ประเมินผลหรือความสัมพันธ์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การทบทวนวรรณกรรมอย่างเป็นระบบ · การวิเคราะห์อภิมาน · การทบทวนงานทบทวนอย่างเป็นระบบ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3776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เข้าใจประสบการณ์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การสังเคราะห์หลักฐานเชิงคุณภาพ · การสังเคราะห์แบบเมตาชาติพันธุ์วรรณนา · การสังเคราะห์เชิงประเด็น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67628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อธิบายความซับซ้อน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0508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การทบทวนเชิงสัจนิยม · การทบทวนวรรณกรรมแบบผสมผสานวิธี · การทบทวนวรรณกรรมเชิงบูรณาการ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HILJ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ก่อนเลือกวิธี ให้เปรียบเทียบอย่างน้อย 6 มิติ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อย่าดูเพียงว่า ‘ทำเสร็จเร็วแค่ไหน’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คำถามที่ตอบได้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วิธีนี้รองรับข้อสรุปประเภทใด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กว้างเพื่อทำแผนที่ หรือแคบเพื่อประเมินผล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ชนิดหลักฐาน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แบบแผนและข้อมูลเข้ากันได้เพียงใด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ความเข้มของกระบวนการ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โครงร่าง ทีมผู้ทบทวน การค้น และการประเมินคุณภาพ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ผลผลิต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 ประเด็น ทฤษฎี ค่าประมาณผล หรือข้อเสนอ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58912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เวลาและทีม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1792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ทรัพยากรที่มีจริงกับความคาดหวังของผลงาน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บันทึกเหตุผลในการเลือกวิธี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กิจกรรมเวิร์กชอป · 18 นาที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58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406908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783080"/>
            <a:ext cx="64008" cy="192024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01952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23160" y="2350008"/>
            <a:ext cx="3703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เลือกวิธีเริ่มต้น 1 วิธีและทางเลือก 1 วิธีสำหรับคำถามของตนเอง พร้อมเขียนเหตุผลสั้น 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0528" y="1783080"/>
            <a:ext cx="507492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78308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90195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93408" y="2350008"/>
            <a:ext cx="4709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ระบุเจตนาและชนิดหลักฐาน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เปรียบเทียบ 2–3 วิธี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เขียนเหตุผลเลือกและเหตุผลไม่เลือก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ให้คู่ถามคำถามท้าทาย 1 ข้อ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3913632"/>
            <a:ext cx="406908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40280" y="3913632"/>
            <a:ext cx="64008" cy="160020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032504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ชิ้นงานที่ต้องได้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80560"/>
            <a:ext cx="3703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4 บรรทัด: เลือกอะไร / เพราะอะไร / ไม่ตอบอะไร / ทางเลือกคืออะไร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10528" y="3913632"/>
            <a:ext cx="507492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913632"/>
            <a:ext cx="64008" cy="160020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03250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คำถามสำหรับถอดบทเรียน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93408" y="4480560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ถ้าสภาพหลักฐานจริงไม่ตรงกับที่คาด คุณจะปรับคำถามหรือปรับวิธี?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01000" y="731520"/>
            <a:ext cx="3154680" cy="3154680"/>
          </a:xfrm>
          <a:prstGeom prst="ellipse">
            <a:avLst/>
          </a:prstGeom>
          <a:solidFill>
            <a:srgbClr val="0F6B63">
              <a:alpha val="90000"/>
            </a:srgbClr>
          </a:solidFill>
          <a:ln w="25400">
            <a:solidFill>
              <a:srgbClr val="E0ECE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3768" y="3401568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7032" y="12984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6766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เจาะตามสาขาวิชา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7D5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 มาตรฐาน และข้อควรระวังต่างกัน แต่หลักความโปร่งใสและการตรวจย้อนกลับยังเหมือนกัน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434340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4A3421"/>
          </a:solidFill>
          <a:ln w="12700">
            <a:solidFill>
              <a:srgbClr val="4A34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3799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25–35 นาที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กลุ่มสาขา = 9 จุดเริ่มค้นที่ต่างกัน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ฐานข้อมูลเฉพาะสาขาช่วยลดจุดที่อาจมองข้ามเมื่อใช้เฉพาะฐานข้อมูลสหสาขา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1438656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สุขภาพและการแพทย์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MEDLINE · Embase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1438656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สังคมศาสตร์และพฤติกรรมศาสตร์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Scopus · Web of Science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1438656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การศึกษา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ERIC · Education Source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" y="3358896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3358896"/>
            <a:ext cx="64008" cy="1438656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486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3477768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ธุรกิจและการจัดการ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3925824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Business Source · ABI/INFORM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76344" y="3358896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3358896"/>
            <a:ext cx="64008" cy="1438656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3486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3477768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วิศวกรรมและคอมพิวเตอร์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3925824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IEEE Xplore · ACM Digital Library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58912" y="3358896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3358896"/>
            <a:ext cx="64008" cy="1438656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3486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3477768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วิทยาศาสตร์ธรรมชาติและสิ่งแวดล้อม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1792" y="3925824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Web of Science · Scopus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3776" y="4962144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" y="4962144"/>
            <a:ext cx="64008" cy="1438656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50901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08101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ศิลปศาสตร์และมนุษยศาสตร์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6656" y="5529072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JSTOR · MLA Bibliography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76344" y="4962144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76344" y="4962144"/>
            <a:ext cx="64008" cy="1438656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40936" y="50901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9576" y="508101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กฎหมายและนโยบายสาธารณะ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59224" y="5529072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HeinOnline · Westlaw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58912" y="4962144"/>
            <a:ext cx="3617976" cy="1438656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58912" y="4962144"/>
            <a:ext cx="64008" cy="1438656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0901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772144" y="508101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สหวิทยาการและสาขาเกิดใหม่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41792" y="5529072"/>
            <a:ext cx="32522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แหล่งค้นตั้งต้น: Scopus · Web of Science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สาขาวิชาและจุดที่ต้องระวัง · 1/3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คำถามคล้ายกันอาจต้องใช้ฐานข้อมูลและมาตรฐานคนละชุด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สุขภาพและการแพทย์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ประสิทธิผล ความชุก ความแม่นยำในการวินิจฉัย ประสบการณ์ และการนำไปใช้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ลงทะเบียนโครงร่างล่วงหน้าสำหรับคำถามเฉพาะ และใช้เครื่องมือประเมินความเสี่ยงอคติที่ตรงกับแบบแผนการศึกษา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สังคมศาสตร์และพฤติกรรมศาสตร์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ประสบการณ์ ความสัมพันธ์ กลไก ผลของนโยบาย และรูปแบบทางสังคม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รักษาบริบทของหลักฐาน และอย่านำตัวแปรหรือแนวคิดที่ต่างกันมาเปรียบเทียบโดยตรงหากไม่มีเหตุผลรองรับ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การศึกษา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ผลของนวัตกรรม ประสบการณ์ในชั้นเรียน การนำไปใช้ และการออกแบบการเรียนรู้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คำนึงถึงช่วงวัย บริบท ความสม่ำเสมอในการดำเนินกิจกรรมตามแผน และนโยบายในพื้นที่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EQUATOR Network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สาขาวิชาและจุดที่ต้องระวัง · 2/3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คำถามคล้ายกันอาจต้องใช้ฐานข้อมูลและมาตรฐานคนละชุด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ธุรกิจและการจัดการ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การพัฒนาทฤษฎี แนวโน้ม ความสัมพันธ์ และกลไกขององค์การ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แยกหลักฐานวิชาการออกจากข้อเสนอของบริษัทที่ปรึกษา และระวังการเลือกเฉพาะหัวข้อที่กำลังเป็นกระแส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วิศวกรรมและคอมพิวเตอร์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การเปรียบเทียบเทคนิค แนวโน้มวิจัย หลักฐานการใช้งาน และความรู้ของผู้ปฏิบัติ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ตรวจสอบรุ่นของเทคโนโลยี ความสามารถในการเปรียบเทียบเกณฑ์ทดสอบ คุณภาพของวารสารหรือแหล่งเผยแพร่ และอายุของหลักฐาน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วิทยาศาสตร์ธรรมชาติและสิ่งแวดล้อม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ผลกระทบ รูปแบบเชิงพื้นที่ ปัจจัยเชิงสาเหตุ และการจัดการสิ่งแวดล้อม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วางแผนรับความแตกต่างด้านชนิดพันธุ์ ระดับพื้นที่ ภูมิศาสตร์ การวัด และภูมิอากาศ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EQUATOR Network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สาขาวิชาและจุดที่ต้องระวัง · 3/3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คำถามคล้ายกันอาจต้องใช้ฐานข้อมูลและมาตรฐานคนละชุด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ศิลปศาสตร์และมนุษยศาสตร์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การตีความ ลำดับพัฒนาการ ประวัติศาสตร์นิพนธ์ การถกเถียงเชิงวิพากษ์ และรูปแบบในเอกสารจดหมายเหตุ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ความโปร่งใสยังสำคัญ แต่ความครบถ้วนและการประเมินคุณค่าต้องตีความตามธรรมชาติของสาขา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กฎหมายและนโยบายสาธารณะ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การตีความกฎหมาย ผลของนโยบาย การนำไปใช้ และการเปรียบเทียบสถาบัน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ระบุเขตอำนาจ ลำดับศักดิ์ของแหล่งกฎหมาย ขอบเขตเวลา และบริบทนโยบายให้ชัด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สหวิทยาการและสาขาเกิดใหม่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คำถาม: การเชื่อมแนวคิด ช่องว่างหลักฐาน กลไกระบบ นิยามที่ยังถกเถียง และแนวปฏิบัติใหม่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ระวัง: กำหนดขอบเขตให้ชัด และค้นด้วยคำศัพท์กับฐานข้อมูลจากมากกว่าหนึ่งศาสตร์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EQUATOR Network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วาดแผนที่แหล่งค้นของสาขาตนเอง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กิจกรรมเวิร์กชอป · 12 นาที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58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A3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406908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783080"/>
            <a:ext cx="64008" cy="192024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01952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23160" y="2350008"/>
            <a:ext cx="3703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ระบุฐานข้อมูลหลัก 2 แห่ง ฐานเฉพาะสาขา 1 แห่ง และแหล่งวรรณกรรมสีเทา 1 แห่ง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0528" y="1783080"/>
            <a:ext cx="507492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78308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90195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93408" y="2350008"/>
            <a:ext cx="4709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เริ่มจากกลุ่มสาขาใน LitWise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เพิ่มแหล่งที่อาจารย์หรือบรรณารักษ์แนะนำ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ระบุสิ่งที่แต่ละแหล่งครอบคลุมต่างกัน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เลือกผู้เชี่ยวชาญที่จะช่วยตรวจกลยุทธ์การค้น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3913632"/>
            <a:ext cx="406908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40280" y="3913632"/>
            <a:ext cx="64008" cy="160020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032504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ชิ้นงานที่ต้องได้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80560"/>
            <a:ext cx="3703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แผนที่แหล่งค้นอย่างน้อย 4 แหล่ง พร้อมเหตุผลเลือก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10528" y="3913632"/>
            <a:ext cx="507492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913632"/>
            <a:ext cx="64008" cy="160020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03250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คำถามสำหรับถอดบทเรียน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93408" y="4480560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ถ้าใช้ฐานข้อมูลเดียว งานประเภทใดหรือภูมิภาคใดมีโอกาสหายไป?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01000" y="731520"/>
            <a:ext cx="3154680" cy="3154680"/>
          </a:xfrm>
          <a:prstGeom prst="ellipse">
            <a:avLst/>
          </a:prstGeom>
          <a:solidFill>
            <a:srgbClr val="0F6B63">
              <a:alpha val="90000"/>
            </a:srgbClr>
          </a:solidFill>
          <a:ln w="25400">
            <a:solidFill>
              <a:srgbClr val="E0ECE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3768" y="3401568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7032" y="12984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6766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ลงมือทำอย่างเป็นขั้นตอน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7D5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ทำให้ทุกการตัดสินใจมีหลักฐาน มีบันทึก และย้อนกลับไปยังแหล่งเดิมได้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434340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4A3421"/>
          </a:solidFill>
          <a:ln w="12700">
            <a:solidFill>
              <a:srgbClr val="4A34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3799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90–110 นาที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ระยะที่ต้องเชื่อมต่อกัน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แต่ละระยะมีผลผลิตและจุดตรวจสอบก่อนส่งงานต่อไปยังระยะถัดไป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76072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0664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กำหนดขอบเขต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64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เปลี่ยนหัวข้อให้เป็นคำถาม กำหนดสิ่งที่งานต้องการตอบ และวางขอบเขตที่ทบทวนได้จริง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ผลผลิต: กรอบคำถาม · เกณฑ์คัดเลือก · เหตุผลที่เลือกวิธีทบทวน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30780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5372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95372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95372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แยกคำถามออกเป็นแนวคิด คำพ้อง และแหล่งข้อมูล พร้อมบันทึกวิธีค้นให้ผู้อื่นทำตามได้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ผลผลิต: ชุดแนวคิด · คำค้นที่ทดลองแล้ว · บันทึกการค้น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85488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0080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50080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50080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ใช้เกณฑ์คัดเลือกอย่างสม่ำเสมอ และบันทึกเหตุผลทุกครั้งที่ตัดงานออก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ผลผลิต: รายการอ้างอิงหลังลบรายการซ้ำ · ผลการคัดกรอง · จำนวนงานในผังการคัดเลือก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40196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4788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04788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4788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พิจารณาว่าหลักฐานแต่ละชิ้นรองรับข้อสรุปประเภทใด และรองรับได้มากน้อยเพียงใด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ผลผลิต: แบบบันทึกการประเมิน · ผลประเมินความเสี่ยงอคติ · ข้อจำกัดของหลักฐาน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94904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9496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159496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สกัดข้อมูล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159496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เก็บข้อมูลที่เทียบกันได้ โดยไม่ตัดบริบทที่จำเป็นต่อการสังเคราะห์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ผลผลิต: แบบฟอร์มสกัดข้อมูล · ตารางหลักฐาน · บันทึกการตรวจสอบ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849612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4204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014204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014204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เรียบเรียงข้อค้นพบให้เชื่อมโยงกับความไม่แน่นอน ข้อจำกัด และประโยชน์ทางวิชาการของงาน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ผลผลิต: โครงสร้างการสังเคราะห์ · ตารางหรือแผนที่ · รายการตรวจสอบการรายงาน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PRISMA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· กำหนดขอบเขต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เปลี่ยนหัวข้อให้เป็นคำถาม กำหนดสิ่งที่งานต้องการตอบ และวางขอบเขตที่ทบทวนได้จริง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คำถามเบื้องต้น · ผู้ใช้ผลการทบทวน · ข้อจำกัดเวลาและทีม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ตัดสินใจ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กรอบคำถาม · เกณฑ์คัดเลือก · วิธีทบทวน · โครงร่างการทบทวน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จุดตรวจสอบ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หลักฐานที่วางแผนจะค้นเพียงพอต่อข้อสรุปที่ต้องการนำเสนอหรือไม่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· ค้น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แยกคำถามออกเป็นแนวคิด คำพ้อง และแหล่งข้อมูล พร้อมบันทึกวิธีค้นให้ผู้อื่นทำตามได้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ชุดแนวคิด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แยกคำถามเป็นแนวคิดหลัก ไม่ใส่ทุกองค์ประกอบลงในคำค้นเสมอไป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คำศัพท์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คำพ้อง คำย่อ รูปสะกด ศัพท์ควบคุม และคำที่ต้องระวัง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บันทึกการค้น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 แพลตฟอร์ม วันที่ คำค้น ตัวกรอง จำนวน และไฟล์ส่งออก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Systematic Reviews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สร้างคำค้นแบบบูลีนจากชุดแนวคิด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 รวมคำในแนวคิดเดียวกัน · AND เชื่อมแนวคิดต่างกัน · NOT ใช้อย่างระวัง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3401568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87452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9339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ประชากร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2441448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student* OR undergraduate* OR universit*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087368" y="2660904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12211F"/>
          </a:solidFill>
          <a:ln w="12700">
            <a:solidFill>
              <a:srgbClr val="1221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6974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43984" y="1874520"/>
            <a:ext cx="3401568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3984" y="1874520"/>
            <a:ext cx="64008" cy="192024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99339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26864" y="2441448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“AI tutor*” OR “intelligent tutoring” OR chatbot*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909560" y="2660904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12211F"/>
          </a:solidFill>
          <a:ln w="12700">
            <a:solidFill>
              <a:srgbClr val="1221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82712" y="26974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66176" y="1874520"/>
            <a:ext cx="3401568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66176" y="1874520"/>
            <a:ext cx="64008" cy="192024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199339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49056" y="2441448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learning OR achievement OR engagement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10149840" cy="1005840"/>
          </a:xfrm>
          <a:prstGeom prst="rect">
            <a:avLst/>
          </a:prstGeom>
          <a:solidFill>
            <a:srgbClr val="12211F"/>
          </a:solidFill>
          <a:ln w="12700">
            <a:solidFill>
              <a:srgbClr val="1221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4553712"/>
            <a:ext cx="9646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(student* OR undergraduate*) AND ("AI tutor*" OR chatbot*) AND (learning OR engagement)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Systematic Reviews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สร้างและทดสอบชุดคำค้นฉบับแรก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กิจกรรมเวิร์กชอป · 18 นาที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58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A4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406908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783080"/>
            <a:ext cx="64008" cy="192024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01952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23160" y="2350008"/>
            <a:ext cx="3703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แยกคำถามของตนเองเป็นชุดแนวคิด 2–3 ชุด แล้วสร้างคำค้นแบบบูลีนฉบับทดลอง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0528" y="1783080"/>
            <a:ext cx="507492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78308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90195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93408" y="2350008"/>
            <a:ext cx="4709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เลือกแนวคิดหลัก 2–3 กลุ่ม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เพิ่มคำพ้อง คำย่อ และรูปสะกด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เชื่อม OR ภายในกลุ่ม และ AND ระหว่างกลุ่ม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ระบุคำ/ศัพท์ควบคุมที่ต้องตรวจในฐานข้อมูลจริง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3913632"/>
            <a:ext cx="406908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40280" y="3913632"/>
            <a:ext cx="64008" cy="160020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032504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ชิ้นงานที่ต้องได้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80560"/>
            <a:ext cx="3703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ตารางแนวคิด + คำค้นแบบบูลีน 1 ชุด + จุดที่ต้องทดลองค้น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10528" y="3913632"/>
            <a:ext cx="507492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913632"/>
            <a:ext cx="64008" cy="160020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03250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คำถามสำหรับถอดบทเรียน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93408" y="4480560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คำใดกว้างจนได้ผลลัพธ์ที่ไม่เกี่ยวข้องมากเกินไป และคำใดแคบจนเสี่ยงพลาดงานสำคัญ?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· คัดกรอง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ใช้เกณฑ์คัดเลือกอย่างสม่ำเสมอ และบันทึกเหตุผลทุกครั้งที่ตัดงานออก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ซักซ้อมเกณฑ์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ทดลองกับตัวอย่างเดียวกันก่อนเริ่มจริง และปรับนิยามให้ตีความตรงกัน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คัดกรองสองระยะ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ชื่อเรื่อง/บทคัดย่อ → ฉบับเต็ม; หากไม่แน่ใจให้ส่งต่อ ไม่รีบตัดออก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บันทึกเหตุผล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เหตุผลที่ตัดออกในขั้นฉบับเต็มต้องสอดคล้องกับผัง PRISMA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PRISMA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ปรับความเข้าใจเกณฑ์คัดกรองให้ตรงกัน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หลักสำคัญ: ความไม่แน่ใจไม่เท่ากับ ‘คัดออก’ ตัวอย่างนี้ใช้เกณฑ์งาน AI ช่วยสอนนักศึกษามหาวิทยาลัยตั้งแต่ปี 2020 และต้องรายงานผลผู้เรียน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792224"/>
            <a:ext cx="5349240" cy="18470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92224"/>
            <a:ext cx="64008" cy="1847088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911096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AI ช่วยสอนในวิชาสถิติชั้นปีที่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359152"/>
            <a:ext cx="4983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การศึกษาแบบมีกลุ่มควบคุมในปี 2023 ในนักศึกษามหาวิทยาลัย 180 คน รายงานผลสัมฤทธิ์และการมีส่วนร่วม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คำตอบ: คัดเข้า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63056" y="1792224"/>
            <a:ext cx="5349240" cy="18470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792224"/>
            <a:ext cx="64008" cy="1847088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920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A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76288" y="1911096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เหตุใดมหาวิทยาลัยควรใช้ระบบ AI ช่วยสอน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2359152"/>
            <a:ext cx="4983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บทบรรณาธิการปี 2024 เสนอเหตุผลสนับสนุน แต่ไม่มีการศึกษาเชิงประจักษ์หรือผลลัพธ์ผู้เรียน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คำตอบ: คัดออก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5349240" cy="18470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858768"/>
            <a:ext cx="64008" cy="18470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867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977640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ระบบสอนแบบปรับตัวในสถานศึกษา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4425696"/>
            <a:ext cx="4983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บทคัดย่อรายงานผลการเรียนที่ดีขึ้น แต่ไม่ระบุว่าผู้เข้าร่วมเป็นนักเรียนหรือนักศึกษา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คำตอบ: ตรวจฉบับเต็ม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63056" y="3858768"/>
            <a:ext cx="5349240" cy="18470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3858768"/>
            <a:ext cx="64008" cy="1847088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9867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A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76288" y="3977640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การสอนคณิตศาสตร์ ม.2 ด้วย Generative 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45936" y="4425696"/>
            <a:ext cx="4983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งานปี 2022 ในนักเรียนอายุ 13–14 ปี รายงานผลคะแนนสอบ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คำตอบ: คัดออก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PRISMA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· ประเมินคุณภาพ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พิจารณาว่าหลักฐานแต่ละชิ้นรองรับข้อสรุปประเภทใด และรองรับได้มากน้อยเพียงใด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ถามให้ตรง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เครื่องมือช่วยถามเรื่องคุณภาพ ความเสี่ยงอคติ หรือความเชื่อมั่น—ไม่ใช่สิ่งเดียวกัน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ให้ตรงแบบแผน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การทดลองแบบสุ่ม การศึกษาไม่สุ่ม งานเชิงคุณภาพ งานแบบผสม และการทบทวนวรรณกรรมอย่างเป็นระบบใช้คนละกรอบ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เชื่อมกับข้อสรุป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ผลประเมินต้องมีผลต่อการสังเคราะห์ การวิเคราะห์ความไว หรือระดับความมั่นใจ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เลือกเครื่องมือประเมินให้ตรงกับแบบแผนการศึกษา · 1/2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เริ่มจากคำถามที่ต้องการประเมิน ไม่ใช่เริ่มจากรายการตรวจสอบที่คุ้นเคย</a:t>
            </a:r>
            <a:endParaRPr lang="en-US" sz="15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45952" cy="4251960"/>
        </p:xfrm>
        <a:graphic>
          <a:graphicData uri="http://schemas.openxmlformats.org/drawingml/2006/table">
            <a:tbl>
              <a:tblPr/>
              <a:tblGrid>
                <a:gridCol w="2331720"/>
                <a:gridCol w="5349240"/>
                <a:gridCol w="3364992"/>
              </a:tblGrid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ประเภทหลักฐาน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ประเด็นหลัก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จุดเริ่มต้นของเครื่องมือ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การทดลองแบบสุ่ม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การสุ่ม การเบี่ยงเบน ข้อมูลหาย การวัด และการเลือกรายงาน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RoB 2 หรือเครื่องมือเทียบเท่าในสาขา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การแทรกแซงไม่สุ่ม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ตัวแปรกวน การเลือก การจัดกลุ่ม การเบี่ยงเบน และข้อมูลหาย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ROBINS-I หรือเครื่องมือเทียบเท่า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งานเชิงคุณภาพ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ความเหมาะสม การคัดเลือก การสะท้อนตน การวิเคราะห์ บริบท และความน่าเชื่อถือ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CASP, JBI หรือเครื่องมือที่เหมาะกับสาขา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EQUATOR Network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เลือกเครื่องมือประเมินให้ตรงกับแบบแผนการศึกษา · 2/2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เริ่มจากคำถามที่ต้องการประเมิน ไม่ใช่เริ่มจากรายการตรวจสอบที่คุ้นเคย</a:t>
            </a:r>
            <a:endParaRPr lang="en-US" sz="15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45952" cy="4251960"/>
        </p:xfrm>
        <a:graphic>
          <a:graphicData uri="http://schemas.openxmlformats.org/drawingml/2006/table">
            <a:tbl>
              <a:tblPr/>
              <a:tblGrid>
                <a:gridCol w="2331720"/>
                <a:gridCol w="5349240"/>
                <a:gridCol w="3364992"/>
              </a:tblGrid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ประเภทหลักฐาน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ประเด็นหลัก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จุดเริ่มต้นของเครื่องมือ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งานวิจัยแบบผสมผสานวิธี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คุณภาพของแต่ละส่วนและเหตุผลในการผสานผล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MMAT หรือเครื่องมือที่เหมาะกับงานแต่ละรูปแบบ ร่วมกับการประเมินวิธีผสานผล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การทบทวนวรรณกรรมอย่างเป็นระบบ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โครงร่าง การค้น การเลือก การประเมิน การสังเคราะห์ และอคติ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11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AMSTAR 2 หรือเครื่องมือประเมินงานทบทวนที่ตรงวัตถุประสงค์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9728" marR="109728" marT="109728" marB="109728" anchor="ctr">
                    <a:lnL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EQUATOR Network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 · สกัดข้อมูล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เก็บข้อมูลที่เทียบกันได้ โดยไม่ตัดบริบทที่จำเป็นต่อการสังเคราะห์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ออกแบบจากแผนสังเคราะห์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สกัดเฉพาะข้อมูลที่จำเป็นต่อคำถามและวิธีสังเคราะห์ที่วางไว้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ทดลองใช้แบบฟอร์ม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ทดลองกับงาน 3–5 ชิ้น แล้วปรับนิยามของแต่ละช่องก่อนใช้กับงานทั้งชุด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เก็บที่มาของข้อมูล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ทุกข้อค้นพบย้อนกลับไปยังบทความ หน้า ตาราง หรือข้อความต้นทางได้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การสังเคราะห์ต้องตอบคำถาม ไม่ใช่เพียงจัดตาราง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เลือกระดับการรวมข้อมูลตามความเข้ากันได้และเจตนาของงาน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เชิงปริมาณ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การวิเคราะห์อภิมาน · ขนาดอิทธิพล · ความไม่เป็นเนื้อเดียวกัน · การวิเคราะห์ความไว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เชิงคุณภาพ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การสังเคราะห์เชิงประเด็น · การสังเคราะห์แบบเมตาชาติพันธุ์วรรณนา · การตีความระดับสูง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3776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เชิงอธิบาย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การสังเคราะห์เชิงสัจนิยม · บริบท–กลไก–ผลลัพธ์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67628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แบบผสม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0508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รวมสายหลักฐานโดยอธิบายลำดับเวลา น้ำหนัก และวิธีผสานผล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BMC MRM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eMERGe Project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RAMESES Project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 · เขียนและรายงาน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เรียบเรียงข้อค้นพบให้เชื่อมโยงกับความไม่แน่นอน ข้อจำกัด และประโยชน์ทางวิชาการของงาน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รายงานกระบวนการ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 โครงร่าง แหล่งค้น เกณฑ์ ผู้คัดกรอง การประเมิน และวิธีสังเคราะห์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431596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รายงานผล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หลักฐานที่พบ รูปแบบ ความไม่แน่นอน ข้อจำกัด และผลที่ตรวจสอบได้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431596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431596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ไม่สรุปเกินหลักฐาน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แยกความสัมพันธ์ออกจากเหตุและผล และแยก ‘ไม่พบหลักฐาน’ ออกจาก ‘มีหลักฐานว่าไม่มีผล’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PRISMA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Systematic Reviews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ผัง PRISMA: ตัวเลขทุกขั้นต้องหักลบกันได้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ผังช่วยรายงานการไหลของรายการ (records) รายงาน (reports) และงานวิจัย (studies) แต่ไม่แทนวิธีวิจัย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76072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0664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ค้นพบ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64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รายการจากฐานข้อมูลและแหล่งอื่น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30780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5372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95372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นำออก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95372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รายการซ้ำ ระบบอัตโนมัติ และเหตุผลก่อนคัดกรอง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85488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0080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50080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50080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ชื่อเรื่องและบทคัดย่อ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40196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4788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04788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ขอฉบับเต็ม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4788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รายงานที่ขอฉบับเต็ม / รายงานที่ขอไม่ได้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94904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9496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159496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ประเมินฉบับเต็ม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159496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ตัดออกพร้อมเหตุผลและจำนวน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849612" y="1965960"/>
            <a:ext cx="1744980" cy="3291840"/>
          </a:xfrm>
          <a:prstGeom prst="roundRect">
            <a:avLst>
              <a:gd name="adj" fmla="val 4192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4204" y="2148840"/>
            <a:ext cx="141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014204" y="2660904"/>
            <a:ext cx="1415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คัดเข้า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014204" y="3429000"/>
            <a:ext cx="14157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งานวิจัยหรือรายงานที่นำไปสังเคราะห์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PRISMA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สร้างผังขั้นตอนทำงานของโครงการ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กิจกรรมเวิร์กชอป · 20 นาที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58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A5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406908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783080"/>
            <a:ext cx="64008" cy="192024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01952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23160" y="2350008"/>
            <a:ext cx="3703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เติมผลผลิตและจุดตรวจสอบของทั้ง 6 ระยะสำหรับโครงการของตนเอง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0528" y="1783080"/>
            <a:ext cx="507492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78308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90195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93408" y="2350008"/>
            <a:ext cx="4709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เขียนผลผลิตที่ต้องมีในแต่ละระยะ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ระบุผู้รับผิดชอบและเครื่องมือ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กำหนดจุดตรวจสอบก่อนส่งงานต่อ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วง 1 จุดเสี่ยงที่ต้องทดลองก่อน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3913632"/>
            <a:ext cx="406908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40280" y="3913632"/>
            <a:ext cx="64008" cy="160020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032504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ชิ้นงานที่ต้องได้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80560"/>
            <a:ext cx="3703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ผังขั้นตอนทำงาน 6 ช่อง + จุดเสี่ยง 1 จุด + การทดลองลดความเสี่ยง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10528" y="3913632"/>
            <a:ext cx="507492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913632"/>
            <a:ext cx="64008" cy="160020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03250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คำถามสำหรับถอดบทเรียน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93408" y="4480560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ระยะใดมีการตัดสินใจที่ยังไม่มีหลักฐานหรือผู้รับผิดชอบชัดเจน?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01000" y="731520"/>
            <a:ext cx="3154680" cy="3154680"/>
          </a:xfrm>
          <a:prstGeom prst="ellipse">
            <a:avLst/>
          </a:prstGeom>
          <a:solidFill>
            <a:srgbClr val="0F6B63">
              <a:alpha val="90000"/>
            </a:srgbClr>
          </a:solidFill>
          <a:ln w="25400">
            <a:solidFill>
              <a:srgbClr val="E0ECE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3768" y="3401568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7032" y="12984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6766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เครื่องมือและ AI อย่างรับผิดชอบ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7D5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เลือกเครื่องมือให้ตรงขั้นงาน เก็บที่มาของข้อมูล และใช้ AI เป็นเพียงร่างที่ต้องตรวจ ไม่ใช่ผู้ตัดสินความถูกต้อง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434340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4A3421"/>
          </a:solidFill>
          <a:ln w="12700">
            <a:solidFill>
              <a:srgbClr val="4A34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3799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40–50 นาที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 12 รายการตามงานที่ต้องทำ · 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เลือกจากความต้องการของทีม การตรวจย้อนกลับ ค่าใช้จ่าย และการส่งออกข้อมูล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Zotero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จัดการเอกสารอ้างอิง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เป็นตัวเลือกเริ่มต้นที่เหมาะกับนักศึกษาและทีมวิจัยส่วนใหญ่ มีส่วนเสริมเบราว์เซอร์และระบบที่เปิดกว้าง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Mendeley Reference Manager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จัดการเอกสารอ้างอิง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ผู้ที่ต้องการคลังไฟล์ PDF และระบบแทรกการอ้างอิงที่ใช้งานไม่ซับซ้อน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EndNote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จัดการเอกสารอ้างอิง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ห้องปฏิบัติการหรือมหาวิทยาลัยที่ใช้ EndNote เป็นมาตรฐานและมีรูปแบบอ้างอิงพร้อมอยู่แล้ว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Bibliome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จัดการเอกสารอ้างอิง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ผู้ที่ต้องการจัดระเบียบและค้นไฟล์ PDF ในเครื่อง โดยให้ระบบช่วยจัดหมวดหมู่และซิงก์ผ่าน iCloud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ค้นบทความและช่วยอ่านงานวิจัย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ช่วยค้นเว็บและงานวิชาการด้วย AI รวบรวมแหล่งข้อมูล และสำรวจคำถามวิจัยในช่วงเริ่มต้น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58912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Keenious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1792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ค้นบทความและช่วยอ่านงานวิจัย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ค้นงานที่เกี่ยวข้องจากคำถาม ข้อความ หรือต้นฉบับ และช่วยสำรวจหัวข้อที่เชื่อมกันข้ามสาขา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 12 รายการตามงานที่ต้องทำ · B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เลือกจากความต้องการของทีม การตรวจย้อนกลับ ค่าใช้จ่าย และการส่งออกข้อมูล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Iris.ai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ค้นบทความและช่วยอ่านงานวิจัย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สำรวจงานที่เชื่อมโยงกับบทความตั้งต้น และจัดกลุ่มงานตามแนวคิดหรือหัวข้อ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Elicit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ค้นบทความและช่วยอ่านงานวิจัย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ค้นบทความและสร้างตารางข้อมูลเบื้องต้น เพื่อช่วยสำรวจและเตรียมสกัดข้อมูล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Consensus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ค้นบทความและช่วยอ่านงานวิจัย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ดูภาพรวมแบบมีลิงก์ไปยังแหล่งอ้างอิงว่า งานวิจัยตอบคำถามภาษาธรรมดาไว้อย่างไร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SciSpace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ค้นบทความและช่วยอ่านงานวิจัย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ค้นงานวิจัยและถามคำถามเกี่ยวกับบทความแต่ละเรื่องระหว่างอ่าน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Sourcely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ค้นบทความและช่วยอ่านงานวิจัย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ค้นแหล่งข้อมูลจากหัวข้อหรือข้อความ และกรองงานเบื้องต้นระหว่างสำรวจวรรณกรรม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58912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Litmaps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1792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ค้นบทความและช่วยอ่านงานวิจัย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ติดตามงานที่อ้างถึงกันจากบทความตั้งต้น และดูพัฒนาการของกลุ่มงานวิจัยตามเวลา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พรอมต์ที่ตรวจสอบได้มี 4 ส่วน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เป้าหมายไม่ใช่ให้ AI ‘ตอบเก่ง’ แต่ให้ผลลัพธ์ตรวจง่ายและไม่แอบเติมหลักฐาน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บริบท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สาขา เป้าหมาย และข้อมูลที่มีอยู่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งานที่ให้ช่วย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ระบุงานหนึ่งอย่างให้ชัดว่าอยากให้ AI ช่วยอะไร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" y="4160520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27939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ข้อกำหนดการใช้หลักฐาน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656" y="4727448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กำหนดว่าใช้แหล่งใดได้ ต้องตรวจสอบอะไร และห้ามสร้างข้อมูล ตัวเลข หรือแหล่งอ้างอิงขึ้นเอง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67628" y="4160520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427939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รูปแบบคำตอบ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0508" y="4727448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กำหนดโครงให้เห็นข้อมูลที่ขาดและความไม่แน่นอน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งานที่ AI ช่วยร่างได้—แต่ผู้วิจัยต้องตรวจ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เลือกพรอมต์จากงานที่กำลังทำ ไม่ใช่ถามกว้าง ๆ ว่า ‘ช่วยทำการทบทวนวรรณกรรม’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ขยายชุดคำค้น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แตกหัวข้อเป็นแนวคิดหลัก พร้อมคำพ้อง คำย่อ รูปสะกด และคำที่ต้องนำไปทดลองค้นในฐานข้อมูล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ตรวจความชัดของคำถามทบทวน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ตรวจว่าคำถามชัด ตอบได้จริง และสอดคล้องกับหลักฐานที่คาดว่าจะพบหรือไม่ ก่อนเลือกวิธีทบทวน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เปรียบเทียบบทความที่ให้ไว้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ทำตารางเปรียบเทียบก่อนสังเคราะห์ โดยไม่เติมข้อมูลที่บทความไม่ได้รายงาน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ตรวจข้ออ้างเรื่องช่องว่างวิจัย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แยกให้ออกว่าสิ่งที่เรียกว่าช่องว่าง เป็นการขาดหลักฐาน ข้อจำกัดของวิธี ผลที่ขัดกัน หรือเกิดจากการค้นยังไม่ครอบคลุม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ตรวจข้อความกับแหล่งอ้างอิง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ตรวจว่าประโยคในวิทยานิพนธ์หรือบทความกล่าวตรงและไม่แรงเกินกว่างานต้นฉบับรองรับ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ตัวอย่างพรอมต์: ขยายคำค้นโดยไม่อ้างว่าเป็นศัพท์ควบคุม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แตกหัวข้อเป็นแนวคิดหลัก พร้อมคำพ้อง คำย่อ รูปสะกด และคำที่ต้องนำไปทดลองค้นในฐานข้อมูล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20440" cy="416052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83080"/>
            <a:ext cx="64008" cy="416052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0195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บริบท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9808" y="2350008"/>
            <a:ext cx="315468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· สาขา/ประชากร/บริบท · คำถามหรือการตัดสินใจที่ต้องการหลักฐาน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9392" y="1783080"/>
            <a:ext cx="3520440" cy="416052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1783080"/>
            <a:ext cx="64008" cy="416052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90195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ข้อกำหนดการใช้หลักฐาน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62272" y="2350008"/>
            <a:ext cx="315468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อย่าเรียกคำใดว่าศัพท์ควบคุม หากยังไม่ได้ตรวจในคลังศัพท์ควบคุม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แยกคำทั่วไปจากศัพท์ที่ต้องตรวจ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ชี้คำที่เสี่ยงดึงผลลัพธ์ไม่เกี่ยวข้อง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91856" y="1783080"/>
            <a:ext cx="3602736" cy="416052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91856" y="1783080"/>
            <a:ext cx="64008" cy="416052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4736" y="190195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รูปแบบคำตอบ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174736" y="2350008"/>
            <a:ext cx="3236976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ตาราง: แนวคิด | คำค้น | ศัพท์ควบคุมที่ต้องตรวจ | ความเสี่ยง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ตามด้วยร่างคำค้นแบบบูลีนสำหรับนำไปทดลอง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ข้อกำกับการใช้ AI: 4 ข้อที่ไม่ควรต่อรอง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คำตอบจาก AI เป็นเพียงร่างที่ต้องตรวจ ไม่ใช่หลักฐานสำหรับนำไปอ้างอิง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อย่านำข้อความที่ AI สร้างขึ้นไปใช้อ้างอิงเป็นหลักฐาน ต้องย้อนกลับไปยังบทความหรือชุดข้อมูลต้นฉบับ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เปิดอ่านแหล่งต้นฉบับก่อนเชื่อข้อความอ้างตรง ตัวเลข วิธีวิจัย DOI หรือเลขหน้าที่ AI ให้มา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3776" y="4160520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27939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" y="4727448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บันทึกว่าใช้ AI ช่วยตรงไหน และให้ผู้วิจัยเป็นผู้ตัดสินใจเรื่องการคัดเลือก การประเมิน และการตีความ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67628" y="4160520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427939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0508" y="4727448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อย่าอัปโหลดข้อมูลลับ ข้อมูลระบุตัวบุคคล งานที่ติดเงื่อนไขเผยแพร่ หรือเอกสารที่ยังไม่ตีพิมพ์ โดยไม่ตรวจความยินยอมและนโยบายของสถาบันก่อน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แม่แบบที่ควรสร้างตั้งแต่ต้นโครงการ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เอกสารเหล่านี้เปลี่ยนความโปร่งใสจากความตั้งใจให้เป็นหลักฐานการทำงาน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แบบบันทึกการค้น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ช่วยให้ผู้อื่นตรวจสอบและนำคำค้นไปค้นตามในแต่ละฐานข้อมูลได้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ช่องหลัก: ฐานข้อมูล: [ชื่อ] · แพลตฟอร์ม: [ผู้ให้บริการ]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แบบบันทึกผลการคัดเลือก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ช่วยให้ตัดสินใจคัดกรองอย่างสม่ำเสมอและอธิบายเหตุผลได้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ช่องหลัก: รหัสงาน: [ผู้แต่ง-ปี] · ผู้ทบทวน: [ชื่อ]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3776" y="4160520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27939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ตารางสกัดข้อมูล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" y="4727448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เชื่อมบริบท ประเภทงานวิจัย ข้อค้นพบ และผลประเมินคุณภาพ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ช่องหลัก: การอ้างอิง | ประเทศ/บริบท | เป้าหมาย | ประเภทงานวิจัย | กลุ่มตัวอย่าง/ข้อมูล | การแทรกแซงหรือปรากฏการณ์ | ผลลัพธ์/ข้อค้นพบ | บริบท | ข้อจำกัด | ผลประเมิน | หมายเหตุผู้ทบทวน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67628" y="4160520"/>
            <a:ext cx="5509260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4279392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แบบร่างโครงร่างการทบทวน 1 หน้า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0508" y="4727448"/>
            <a:ext cx="51435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ช่วยให้ทีมเข้าใจตรงกันก่อนขยายการค้น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ช่องหลัก: การตัดสินใจที่งานนี้ต้องช่วยสนับสนุน: · คำถามทบทวน: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ข้อผิดพลาดที่ทำให้งานดูเป็นระบบ แต่เชื่อถือไม่ได้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ใช้สไลด์นี้ทบทวนความเสี่ยงล่วงหน้าก่อนเริ่มเก็บข้อมูลจริง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A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เลือกวิธีก่อนตั้งคำถาม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เลือกชื่อวิธีที่กำลังนิยมก่อนกำหนดข้อสรุปที่ต้องการและหลักฐานที่จะใช้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A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พึ่งฐานข้อมูลเดียว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คิดว่าฐานข้อมูลเพียงแห่งเดียวหรือ Google Scholar ครอบคลุมงานทั้งหมดแล้ว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A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เปลี่ยนเกณฑ์กลางทาง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เปลี่ยนเกณฑ์หลังเห็นผลการค้นโดยไม่บันทึกเหตุผล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A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ใช้แบบประเมินไม่ตรงประเภท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ใช้รายการตรวจสอบชุดเดียวกับงานวิจัยที่มีระเบียบวิธีต่างกัน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A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ย้อนกลับหาแหล่งเดิมไม่ได้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เก็บข้อค้นพบโดยไม่ระบุหน้า ตาราง หรือข้อความต้นทาง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58912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4160520"/>
            <a:ext cx="64008" cy="224028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A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สรุปเกินหลักฐาน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1792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อ้างเหตุและผลหรือเหมารวมกว้างกว่าที่หลักฐานรองรับ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01000" y="731520"/>
            <a:ext cx="3154680" cy="3154680"/>
          </a:xfrm>
          <a:prstGeom prst="ellipse">
            <a:avLst/>
          </a:prstGeom>
          <a:solidFill>
            <a:srgbClr val="0F6B63">
              <a:alpha val="90000"/>
            </a:srgbClr>
          </a:solidFill>
          <a:ln w="25400">
            <a:solidFill>
              <a:srgbClr val="E0ECE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3768" y="3401568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7032" y="12984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6766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เปลี่ยนสิ่งที่เรียนให้เป็นแผนโครงการจริง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7D5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ปิดช่องว่างด้วยรายการตรวจสอบ ระบุงาน 30 วันแรก และกำหนดหลักฐานว่าทำแต่ละขั้นเสร็จแล้ว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434340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4A3421"/>
          </a:solidFill>
          <a:ln w="12700">
            <a:solidFill>
              <a:srgbClr val="4A34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3799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20–30 นาที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รายการตรวจสอบตั้งแต่คำถามถึงรายงาน · 1/2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รายการนี้บันทึกในเบราว์เซอร์ของผู้ใช้และไม่ส่งข้อมูลขึ้นเซิร์ฟเวอร์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เขียนคำถามทบทวนวรรณกรรมให้ชัดเจน และระบุช่องว่างความรู้ที่ต้องการเติมเต็ม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เลือกวิธีทบทวนและบันทึกเหตุผล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วางแผน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กำหนดและทดลองเกณฑ์คัดเข้า/คัดออก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วางแผน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เลือกกลุ่มฐานข้อมูลและแหล่งอื่นที่เกี่ยวข้อง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ทดสอบคำค้นกับบทความหลักที่รู้จัก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58912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241792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เก็บคำค้น วันที่ ตัวกรอง จำนวน และไฟล์ส่งออก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รายการตรวจสอบตั้งแต่คำถามถึงรายงาน · 2/2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รายการนี้บันทึกในเบราว์เซอร์ของผู้ใช้และไม่ส่งข้อมูลขึ้นเซิร์ฟเวอร์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ลบรายการซ้ำโดยยังตรวจย้อนกลับไปยังแหล่งที่มาได้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ซักซ้อมเกณฑ์ให้เข้าใจตรงกันและคัดกรองสองระยะ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ใช้เครื่องมือให้ตรงกับรูปแบบการวิจัย และหาข้อสรุปเมื่อผลประเมินไม่ตรงกัน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สกัด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6656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ทดลองแบบสกัดข้อมูลที่ตรวจย้อนกลับได้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76344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4160520"/>
            <a:ext cx="64008" cy="224028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สังเคราะห์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459224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ใช้วิธีสังเคราะห์ที่สอดคล้องกับคำถาม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58912" y="4160520"/>
            <a:ext cx="3617976" cy="224028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4160520"/>
            <a:ext cx="64008" cy="224028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2885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27939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241792" y="4727448"/>
            <a:ext cx="32522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ตรวจแนวทางรายงานและสรุปขั้นตอนการคัดเลือก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โมดูล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 30 วันแรก: ลดความเสี่ยงก่อนเพิ่มปริมาณงาน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เป้าหมายคือให้คำถาม วิธี เกณฑ์ และกลยุทธ์การค้นผ่านการทดลองก่อนเริ่มคัดกรองจริง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76072" y="1965960"/>
            <a:ext cx="2672334" cy="3291840"/>
          </a:xfrm>
          <a:prstGeom prst="roundRect">
            <a:avLst>
              <a:gd name="adj" fmla="val 2737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48840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0664" y="2660904"/>
            <a:ext cx="2343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64" y="3429000"/>
            <a:ext cx="23431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ตั้งคำถาม · เลือกวิธี · เขียนบันทึกเหตุผล · นัดผู้ให้คำปรึกษา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8134" y="1965960"/>
            <a:ext cx="2672334" cy="3291840"/>
          </a:xfrm>
          <a:prstGeom prst="roundRect">
            <a:avLst>
              <a:gd name="adj" fmla="val 2737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2726" y="2148840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22726" y="2660904"/>
            <a:ext cx="2343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2726" y="3429000"/>
            <a:ext cx="23431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ร่างเกณฑ์ · เลือกฐานข้อมูล · สร้างตารางแนวคิด · หาบทความหลักตั้งต้น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40196" y="1965960"/>
            <a:ext cx="2672334" cy="3291840"/>
          </a:xfrm>
          <a:prstGeom prst="roundRect">
            <a:avLst>
              <a:gd name="adj" fmla="val 2737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4788" y="2148840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04788" y="2660904"/>
            <a:ext cx="2343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4788" y="3429000"/>
            <a:ext cx="23431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ทดลองคำค้น · ให้ผู้เชี่ยวชาญตรวจคำค้น · ส่งออกข้อมูล · ลบรายการซ้ำ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22258" y="1965960"/>
            <a:ext cx="2672334" cy="3291840"/>
          </a:xfrm>
          <a:prstGeom prst="roundRect">
            <a:avLst>
              <a:gd name="adj" fmla="val 2737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86850" y="2148840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086850" y="2660904"/>
            <a:ext cx="2343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86850" y="3429000"/>
            <a:ext cx="23431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ทดลองคัดกรอง · ทดลองสกัดข้อมูล · ปรับโครงร่างและบันทึกเหตุผล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FC5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01000" y="731520"/>
            <a:ext cx="3154680" cy="3154680"/>
          </a:xfrm>
          <a:prstGeom prst="ellipse">
            <a:avLst/>
          </a:prstGeom>
          <a:solidFill>
            <a:srgbClr val="0F6B63">
              <a:alpha val="90000"/>
            </a:srgbClr>
          </a:solidFill>
          <a:ln w="25400">
            <a:solidFill>
              <a:srgbClr val="E0ECE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73768" y="3401568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7032" y="1298448"/>
            <a:ext cx="2615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6766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การเลือกสถิติสำหรับงานวิจัย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7D5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ภาคเสริมสำหรับใช้หลังจากกำหนดคำถาม ออกแบบการวิจัย และทราบชนิดข้อมูลแล้ว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434340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4A3421"/>
          </a:solidFill>
          <a:ln w="12700">
            <a:solidFill>
              <a:srgbClr val="4A34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3799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40–50 นาที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สถิติเป็นปลายทางของการออกแบบ ไม่ใช่จุดเริ่มต้น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คำถามเดียวกันอาจใช้วิธีวิเคราะห์ต่างกันได้เมื่อโครงสร้างข้อมูลต่างกัน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444752" cy="1143000"/>
          </a:xfrm>
          <a:prstGeom prst="chevron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76272" y="2423160"/>
            <a:ext cx="1444752" cy="1143000"/>
          </a:xfrm>
          <a:prstGeom prst="chevron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5144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แบบแผน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03904" y="2423160"/>
            <a:ext cx="1444752" cy="1143000"/>
          </a:xfrm>
          <a:prstGeom prst="chevron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2776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ตัวแปร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31536" y="2423160"/>
            <a:ext cx="1444752" cy="1143000"/>
          </a:xfrm>
          <a:prstGeom prst="chevron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โครงสร้างข้อมูล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59168" y="2423160"/>
            <a:ext cx="1444752" cy="1143000"/>
          </a:xfrm>
          <a:prstGeom prst="chevron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สมมติฐาน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0" y="2423160"/>
            <a:ext cx="1444752" cy="1143000"/>
          </a:xfrm>
          <a:prstGeom prst="chevron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314432" y="2423160"/>
            <a:ext cx="1444752" cy="1143000"/>
          </a:xfrm>
          <a:prstGeom prst="chevron">
            <a:avLst/>
          </a:prstGeom>
          <a:solidFill>
            <a:srgbClr val="DDE3E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33304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การแปลผล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11680" y="4160520"/>
            <a:ext cx="8156448" cy="10058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0" y="4160520"/>
            <a:ext cx="64008" cy="100584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4279392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คำเตือน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94560" y="4727448"/>
            <a:ext cx="77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แผนผังนี้ครอบคลุมสถิติพื้นฐาน ไม่แทนคำปรึกษาสำหรับแบบจำลองผสม ข้อมูลที่มีโครงสร้างเป็นกลุ่มหรือแบบติดตามระยะยาว การวิเคราะห์การรอดชีพ ข้อมูลจำนวนนับ ข้อมูลสูญหาย การอนุมานเชิงสาเหตุ หรือการสุ่มตัวอย่างที่ซับซ้อน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UCLA OARC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แผนผังตัดสินใจเริ่มจากเจตนาของการวิเคราะห์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คำถามวิจัยของคุณต้องการตอบเรื่องใด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76072" y="1965960"/>
            <a:ext cx="2672334" cy="3291840"/>
          </a:xfrm>
          <a:prstGeom prst="roundRect">
            <a:avLst>
              <a:gd name="adj" fmla="val 2737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48840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0664" y="2660904"/>
            <a:ext cx="2343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บรรยายลักษณะข้อมูล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64" y="3429000"/>
            <a:ext cx="23431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ค่าเฉลี่ย ร้อยละ การกระจาย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8134" y="1965960"/>
            <a:ext cx="2672334" cy="3291840"/>
          </a:xfrm>
          <a:prstGeom prst="roundRect">
            <a:avLst>
              <a:gd name="adj" fmla="val 2737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2726" y="2148840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22726" y="2660904"/>
            <a:ext cx="2343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เปรียบเทียบกลุ่ม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2726" y="3429000"/>
            <a:ext cx="23431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ค่าเฉลี่ยหรือสัดส่วน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40196" y="1965960"/>
            <a:ext cx="2672334" cy="3291840"/>
          </a:xfrm>
          <a:prstGeom prst="roundRect">
            <a:avLst>
              <a:gd name="adj" fmla="val 2737"/>
            </a:avLst>
          </a:prstGeom>
          <a:solidFill>
            <a:srgbClr val="E0ECE9"/>
          </a:solidFill>
          <a:ln w="12700">
            <a:solidFill>
              <a:srgbClr val="B9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4788" y="2148840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04788" y="2660904"/>
            <a:ext cx="2343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หาความสัมพันธ์ระหว่างตัวแปร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4788" y="3429000"/>
            <a:ext cx="23431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สหสัมพันธ์หรือตารางไขว้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22258" y="1965960"/>
            <a:ext cx="2672334" cy="3291840"/>
          </a:xfrm>
          <a:prstGeom prst="roundRect">
            <a:avLst>
              <a:gd name="adj" fmla="val 2737"/>
            </a:avLst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86850" y="2148840"/>
            <a:ext cx="23431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086850" y="2660904"/>
            <a:ext cx="2343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พยากรณ์ผลลัพธ์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86850" y="3429000"/>
            <a:ext cx="23431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การถดถอย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UCLA OARC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Core Team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SciPy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สถิติพื้นฐาน 14 เทคนิค · 1–4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อ่านข้อตกลงเบื้องต้นและข้อควรระวังในการแปลผลทุกครั้งก่อนเลือกคำสั่งในโปรแกรม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One-sample t-test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คะแนนเฉลี่ยของนักศึกษาต่างจากเกณฑ์ 70 คะแนนหรือไม่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Welch’s independent-samples t-test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คะแนนเฉลี่ยของกลุ่มเรียนออนไลน์กับกลุ่มเรียนในชั้นเรียนต่างกันหรือไม่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Paired-samples t-test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656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คะแนนเฉลี่ยของนักศึกษาก่อนและหลังอบรมต่างกันหรือไม่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67628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One-way ANOVA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50508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คะแนนเฉลี่ยของนักศึกษาในสามรูปแบบการสอนต่างกันหรือไม่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UCLA OARC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Core Team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SciPy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IRSP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Penn State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สถิติพื้นฐาน 14 เทคนิค · 5–8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อ่านข้อตกลงเบื้องต้นและข้อควรระวังในการแปลผลทุกครั้งก่อนเลือกคำสั่งในโปรแกรม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Factorial ANOVA / general linear model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รูปแบบการสอนและระดับชั้นมีผลต่อคะแนน และมีปฏิสัมพันธ์กันหรือไม่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Binomial test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สัดส่วนนักศึกษาที่สอบผ่านต่างจากเกณฑ์ร้อยละ 70 หรือไม่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Repeated-measures ANOVA / Friedman test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656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คะแนนของผู้เรียนที่วัดสามช่วงเวลาแตกต่างกันหรือไม่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67628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7628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2220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80860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Chi-square goodness-of-fit test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50508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สัดส่วนผู้ตอบในแต่ละตัวเลือกต่างจากสัดส่วนที่คาดไว้หรือไม่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Penn State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Core Team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UCLA OARC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SciPy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Biometrics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สถิติพื้นฐาน 14 เทคนิค · 9–11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อ่านข้อตกลงเบื้องต้นและข้อควรระวังในการแปลผลทุกครั้งก่อนเลือกคำสั่งในโปรแกรม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Chi-square test of independence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รูปแบบการเรียนสัมพันธ์กับผลสอบผ่านหรือไม่ผ่านหรือไม่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McNemar test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สัดส่วนผู้ตอบถูกก่อนและหลังอบรมเปลี่ยนไปหรือไม่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สถิติบรรยายและสหสัมพันธ์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656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คะแนนมีการกระจายอย่างไร และเวลาอ่านหนังสือสัมพันธ์กับคะแนนหรือไม่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Biometrics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UCLA OARC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Core Team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SciPy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Penn State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สถิติพื้นฐาน 14 เทคนิค · 12–14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อ่านข้อตกลงเบื้องต้นและข้อควรระวังในการแปลผลทุกครั้งก่อนเลือกคำสั่งในโปรแกรม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ตารางแจกแจงความถี่และตารางไขว้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ผู้เข้าร่วมกระจายตามเพศและชั้นปีอย่างไร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67628" y="175564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7628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80860" y="187452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การถดถอยเชิงเส้น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0508" y="232257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เวลาอ่านหนังสือและการเข้าเรียนช่วยพยากรณ์คะแนนสอบได้เพียงใด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" y="3995928"/>
            <a:ext cx="5509260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4114800"/>
            <a:ext cx="4631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การถดถอยโลจิสติก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656" y="4562856"/>
            <a:ext cx="51435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ตัวอย่างคำถาม: ปัจจัยใดสัมพันธ์กับโอกาสสอบผ่านของนักศึกษา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UCLA OARC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Core Team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Penn State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AJE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ก่อนอ่าน p-value ให้ตรวจ 6 เรื่อง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การตรวจข้อตกลงเบื้องต้นกำหนดความน่าเชื่อถือของข้อสรุป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ความเป็นอิสระ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หน่วยสังเกตเป็นอิสระ หรือมีการจับคู่หรือจัดกลุ่มที่ต้องสร้างแบบจำลอง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ระดับการวัด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ตัวแปรเป็นเชิงปริมาณ อันดับ กลุ่ม หรือผลลัพธ์สองทาง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การแจกแจง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ตรวจรูปแบบข้อมูลและเศษเหลือ ไม่ใช้การทดสอบการแจกแจงปกติเพียงอย่างเดียว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3776" y="399592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11480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ความแปรปรวน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56285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ตรวจความแปรปรวนและใช้ Welch เมื่อสมมติฐานว่าความแปรปรวนเท่ากันไม่สมเหตุสมผล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276344" y="399592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11480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รูปแบบความสัมพันธ์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56285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ตรวจว่าเป็นเชิงเส้น เพิ่มหรือลดทิศทางเดียว หรือสัมพันธ์กับลอจิตอย่างไร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058912" y="399592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11480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จำนวนตัวอย่าง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1792" y="456285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พิจารณาจำนวนตัวอย่าง จำนวนเหตุการณ์ เซลล์ที่มีข้อมูลน้อย และความซับซ้อนของแบบจำลอง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IRSP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Biometrics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AJE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โปรแกรมเป็นเพียงเครื่องมือ ไม่ใช่ระเบียบวิธีวิจัย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ชื่อเมนูและคำสั่งเปลี่ยนตามเวอร์ชัน ต้องตรวจคู่มือก่อนใช้กับข้อมูลจริง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93776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เหมาะกับการใช้เมนูและงานพื้นฐาน ควรตรวจตัวเลือกของ Welch การทดสอบแบบคำนวณค่าที่แน่นอน และการวินิจฉัยแบบจำลอง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6344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6344" y="175564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0936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9576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9224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โปร่งใส ทำซ้ำได้ และมีแพ็กเกจเฉพาะทาง ควรบันทึกรุ่นของโปรแกรมและสคริปต์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58912" y="175564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8912" y="175564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2144" y="187452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1792" y="232257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SciPy และ statsmodels เหมาะกับขั้นตอนทำงานที่เชื่อมข้อมูลกับโค้ด ควรตรวจค่าตั้งต้นของคำสั่ง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" y="399592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11480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Jamovi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" y="456285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ใช้เมนูได้ง่ายและรายงานได้เร็ว ควรตรวจโมดูลและเวอร์ชัน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76344" y="399592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6344" y="3995928"/>
            <a:ext cx="64008" cy="2075688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0936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9576" y="411480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9224" y="456285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เหมาะกับแบบจำลองและงานประยุกต์ ควรเก็บไฟล์คำสั่งเพื่อให้ทำซ้ำได้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58912" y="3995928"/>
            <a:ext cx="3617976" cy="2075688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8912" y="3995928"/>
            <a:ext cx="64008" cy="2075688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504" y="41239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2144" y="411480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Excel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41792" y="4562856"/>
            <a:ext cx="3252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เหมาะสำหรับสรุปเบื้องต้น แต่ไม่รองรับหลายแบบจำลองโดยตรง และตรวจสอบแบบจำลองได้จำกัด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" y="62910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Core Team</a:t>
            </a:r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· </a:t>
            </a:r>
            <a:pPr indent="0" marL="0">
              <a:buNone/>
            </a:pPr>
            <a:r>
              <a:rPr lang="en-US" sz="850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SciPy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ภาคเสริม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เลือกสถิติพร้อมเหตุผล ไม่ใช่เลือกจากชื่อ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กิจกรรมเวิร์กชอป · 15 นาที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58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A6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406908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783080"/>
            <a:ext cx="64008" cy="1920240"/>
          </a:xfrm>
          <a:prstGeom prst="rect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901952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23160" y="2350008"/>
            <a:ext cx="3703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ใช้แผนผังตัดสินใจเลือกวิธีวิเคราะห์สำหรับกรณีตัวอย่าง 2 กรณี แล้วเขียนข้อตกลงเบื้องต้นที่ต้องตรวจ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0528" y="1783080"/>
            <a:ext cx="5074920" cy="192024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783080"/>
            <a:ext cx="64008" cy="1920240"/>
          </a:xfrm>
          <a:prstGeom prst="rect">
            <a:avLst/>
          </a:prstGeom>
          <a:solidFill>
            <a:srgbClr val="0F6B63"/>
          </a:solidFill>
          <a:ln w="12700">
            <a:solidFill>
              <a:srgbClr val="0F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90195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93408" y="2350008"/>
            <a:ext cx="4709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ระบุเจตนา: บรรยาย เปรียบเทียบ สัมพันธ์ หรือพยากรณ์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ระบุชนิดตัวแปรและการจับคู่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เลือกสถิติเริ่มต้น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เขียนข้อตกลงเบื้องต้น 2 ข้อและข้อจำกัด 1 ข้อ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40280" y="3913632"/>
            <a:ext cx="406908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40280" y="3913632"/>
            <a:ext cx="64008" cy="1600200"/>
          </a:xfrm>
          <a:prstGeom prst="rect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4032504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ชิ้นงานที่ต้องได้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80560"/>
            <a:ext cx="3703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ชื่อวิธี + เหตุผล + ข้อตกลงเบื้องต้น + วิธีทางเลือกที่อาจใช้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10528" y="3913632"/>
            <a:ext cx="5074920" cy="1600200"/>
          </a:xfrm>
          <a:prstGeom prst="rect">
            <a:avLst/>
          </a:prstGeom>
          <a:solidFill>
            <a:srgbClr val="FBFAF5"/>
          </a:solidFill>
          <a:ln w="10160">
            <a:solidFill>
              <a:srgbClr val="C8C2B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913632"/>
            <a:ext cx="64008" cy="1600200"/>
          </a:xfrm>
          <a:prstGeom prst="rect">
            <a:avLst/>
          </a:prstGeom>
          <a:solidFill>
            <a:srgbClr val="A84A3D"/>
          </a:solidFill>
          <a:ln w="12700">
            <a:solidFill>
              <a:srgbClr val="A84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03250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คำถามสำหรับถอดบทเรียน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93408" y="4480560"/>
            <a:ext cx="4709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ยังขาดข้อมูลใด จึงยังตัดสินใจเลือกสถิติไม่ได้?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อ้างอิง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แหล่งอ้างอิงหลักของเวิร์กชอป · 1/2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เปิดอ่านต้นฉบับและตรวจให้ตรงกับสาขา วิธี และเวอร์ชันโปรแกรมที่ใช้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783080"/>
            <a:ext cx="10652760" cy="658368"/>
          </a:xfrm>
          <a:prstGeom prst="rect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659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536192" y="192024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JBI Manual for Evidence Synthesis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9808" y="2606040"/>
            <a:ext cx="10652760" cy="658368"/>
          </a:xfrm>
          <a:prstGeom prst="rect">
            <a:avLst/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7889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1536192" y="274320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 Handbook — Searching and selecting studies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429000"/>
            <a:ext cx="10652760" cy="658368"/>
          </a:xfrm>
          <a:prstGeom prst="rect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61188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1536192" y="356616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 Handbook — Risk of bias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9808" y="4251960"/>
            <a:ext cx="10652760" cy="658368"/>
          </a:xfrm>
          <a:prstGeom prst="rect">
            <a:avLst/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43484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1536192" y="438912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Cochrane Handbook — Meta-analysis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9808" y="5074920"/>
            <a:ext cx="10652760" cy="658368"/>
          </a:xfrm>
          <a:prstGeom prst="rect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525780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>
            <a:hlinkClick r:id="rId5" tooltip=""/>
          </p:cNvPr>
          <p:cNvSpPr/>
          <p:nvPr/>
        </p:nvSpPr>
        <p:spPr>
          <a:xfrm>
            <a:off x="1536192" y="521208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PRISMA 2020</a:t>
            </a:r>
            <a:endParaRPr lang="en-US" sz="15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อ้างอิง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75488" y="6556248"/>
            <a:ext cx="4206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LitWise · เวิร์กชอปการทบทวนวรรณกรรม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83112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630936"/>
            <a:ext cx="11109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21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แหล่งอ้างอิงหลักของเวิร์กชอป · 2/2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93776" y="121615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A675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เปิดอ่านต้นฉบับและตรวจให้ตรงกับสาขา วิธี และเวอร์ชันโปรแกรมที่ใช้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783080"/>
            <a:ext cx="10652760" cy="658368"/>
          </a:xfrm>
          <a:prstGeom prst="rect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659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536192" y="192024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PRISMA-S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9808" y="2606040"/>
            <a:ext cx="10652760" cy="658368"/>
          </a:xfrm>
          <a:prstGeom prst="rect">
            <a:avLst/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78892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2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1536192" y="274320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EQUATOR Reporting Guidelines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3429000"/>
            <a:ext cx="10652760" cy="658368"/>
          </a:xfrm>
          <a:prstGeom prst="rect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61188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2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1536192" y="356616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UCLA OARC Statistical Test Guide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9808" y="4251960"/>
            <a:ext cx="10652760" cy="658368"/>
          </a:xfrm>
          <a:prstGeom prst="rect">
            <a:avLst/>
          </a:prstGeom>
          <a:solidFill>
            <a:srgbClr val="FBFAF5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43484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20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1536192" y="438912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stats documentation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9808" y="5074920"/>
            <a:ext cx="10652760" cy="658368"/>
          </a:xfrm>
          <a:prstGeom prst="rect">
            <a:avLst/>
          </a:prstGeom>
          <a:solidFill>
            <a:srgbClr val="E0ECE9"/>
          </a:solidFill>
          <a:ln w="12700">
            <a:solidFill>
              <a:srgbClr val="C8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525780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9">
            <a:hlinkClick r:id="rId5" tooltip=""/>
          </p:cNvPr>
          <p:cNvSpPr/>
          <p:nvPr/>
        </p:nvSpPr>
        <p:spPr>
          <a:xfrm>
            <a:off x="1536192" y="5212080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F6B63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SciPy statistical functions</a:t>
            </a:r>
            <a:endParaRPr lang="en-US" sz="15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FD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LW · สรุป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594360"/>
            <a:ext cx="3200400" cy="3200400"/>
          </a:xfrm>
          <a:prstGeom prst="ellipse">
            <a:avLst/>
          </a:prstGeom>
          <a:solidFill>
            <a:srgbClr val="0F6B63"/>
          </a:solidFill>
          <a:ln w="25400">
            <a:solidFill>
              <a:srgbClr val="5C92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3291840"/>
            <a:ext cx="1417320" cy="1417320"/>
          </a:xfrm>
          <a:prstGeom prst="ellipse">
            <a:avLst/>
          </a:prstGeom>
          <a:solidFill>
            <a:srgbClr val="C46A15"/>
          </a:solidFill>
          <a:ln w="12700">
            <a:solidFill>
              <a:srgbClr val="C46A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6537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คำถามที่ดี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มาก่อนเครื่องมือ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5D5D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วิธีที่ดีคือวิธีที่ตอบคำถามได้ และอธิบายการตัดสินใจทุกขั้นให้ผู้อื่นตรวจสอบได้</a:t>
            </a:r>
            <a:endParaRPr lang="en-US" sz="20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777240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C46A15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เปิดคู่มือเวิร์กชอป LitWise</a:t>
            </a:r>
            <a:endParaRPr lang="en-US" sz="16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77240" y="525780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C5D5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anusornc.github.io/lit-review-guide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0" y="14173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ขั้นต่อไป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ของคุณ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BFA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คืออะไร?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LitWise Literature Review Expert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LitWise: เวิร์กชอปการทบทวนวรรณกรรม</dc:title>
  <dc:subject>เวิร์กชอปการทบทวนวรรณกรรมสำหรับนักศึกษาปริญญาโท ปริญญาเอก และนักวิจัย</dc:subject>
  <dc:creator>LitWise</dc:creator>
  <cp:lastModifiedBy>LitWise</cp:lastModifiedBy>
  <cp:revision>1</cp:revision>
  <dcterms:created xsi:type="dcterms:W3CDTF">2026-07-22T03:07:00Z</dcterms:created>
  <dcterms:modified xsi:type="dcterms:W3CDTF">2026-07-22T03:07:00Z</dcterms:modified>
</cp:coreProperties>
</file>